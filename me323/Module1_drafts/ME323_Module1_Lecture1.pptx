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2331720"/>
            <a:ext cx="12191695" cy="8229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514600"/>
            <a:ext cx="10515600" cy="1737360"/>
          </a:xfrm>
          <a:prstGeom prst="rect">
            <a:avLst/>
          </a:prstGeom>
          <a:noFill/>
        </p:spPr>
        <p:txBody>
          <a:bodyPr wrap="square" anchor="t">
            <a:spAutoFit/>
          </a:bodyPr>
          <a:lstStyle/>
          <a:p>
            <a:pPr algn="l">
              <a:spcAft>
                <a:spcPts val="600"/>
              </a:spcAft>
            </a:pPr>
            <a:r>
              <a:rPr sz="4400" b="1">
                <a:solidFill>
                  <a:srgbClr val="0B0B0B"/>
                </a:solidFill>
                <a:latin typeface="Calibri"/>
              </a:rPr>
              <a:t>Designing a Beam Under Messy Physics</a:t>
            </a:r>
          </a:p>
        </p:txBody>
      </p:sp>
      <p:sp>
        <p:nvSpPr>
          <p:cNvPr id="4" name="TextBox 3"/>
          <p:cNvSpPr txBox="1"/>
          <p:nvPr/>
        </p:nvSpPr>
        <p:spPr>
          <a:xfrm>
            <a:off x="841248" y="3977639"/>
            <a:ext cx="10515600" cy="640080"/>
          </a:xfrm>
          <a:prstGeom prst="rect">
            <a:avLst/>
          </a:prstGeom>
          <a:noFill/>
        </p:spPr>
        <p:txBody>
          <a:bodyPr wrap="square" anchor="t">
            <a:spAutoFit/>
          </a:bodyPr>
          <a:lstStyle/>
          <a:p>
            <a:pPr algn="l">
              <a:spcAft>
                <a:spcPts val="600"/>
              </a:spcAft>
            </a:pPr>
            <a:r>
              <a:rPr sz="2200" b="1">
                <a:solidFill>
                  <a:srgbClr val="2A78D6"/>
                </a:solidFill>
                <a:latin typeface="Calibri"/>
              </a:rPr>
              <a:t>ME 323 Module 1 — Lecture 1</a:t>
            </a:r>
          </a:p>
        </p:txBody>
      </p:sp>
      <p:sp>
        <p:nvSpPr>
          <p:cNvPr id="5" name="TextBox 4"/>
          <p:cNvSpPr txBox="1"/>
          <p:nvPr/>
        </p:nvSpPr>
        <p:spPr>
          <a:xfrm>
            <a:off x="841248" y="4709160"/>
            <a:ext cx="10515600" cy="1280160"/>
          </a:xfrm>
          <a:prstGeom prst="rect">
            <a:avLst/>
          </a:prstGeom>
          <a:noFill/>
        </p:spPr>
        <p:txBody>
          <a:bodyPr wrap="square" anchor="t">
            <a:spAutoFit/>
          </a:bodyPr>
          <a:lstStyle/>
          <a:p>
            <a:pPr algn="l">
              <a:spcAft>
                <a:spcPts val="600"/>
              </a:spcAft>
            </a:pPr>
            <a:r>
              <a:rPr sz="1800" b="0">
                <a:solidFill>
                  <a:srgbClr val="52514E"/>
                </a:solidFill>
                <a:latin typeface="Calibri"/>
              </a:rPr>
              <a:t>Pick a 3D-printed I-beam that carries the most load per gram.
The equations give you a start, not the answer.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The challenge</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lvl="1">
              <a:spcAft>
                <a:spcPts val="1200"/>
              </a:spcAft>
            </a:pPr>
            <a:r>
              <a:rPr sz="1900" b="0">
                <a:solidFill>
                  <a:srgbClr val="0B0B0B"/>
                </a:solidFill>
                <a:latin typeface="Calibri"/>
              </a:rPr>
              <a:t>•  Fixed: total height 18 mm, flange width 10 mm, test span 150 mm, printed length 172 mm, PLA.</a:t>
            </a:r>
          </a:p>
          <a:p>
            <a:pPr algn="l" lvl="1">
              <a:spcAft>
                <a:spcPts val="1200"/>
              </a:spcAft>
            </a:pPr>
            <a:r>
              <a:rPr sz="1900" b="0">
                <a:solidFill>
                  <a:srgbClr val="0B0B0B"/>
                </a:solidFill>
                <a:latin typeface="Calibri"/>
              </a:rPr>
              <a:t>•  You choose: web thickness b and web height H_web (which sets flange thickness).</a:t>
            </a:r>
          </a:p>
          <a:p>
            <a:pPr algn="l" lvl="1">
              <a:spcAft>
                <a:spcPts val="1200"/>
              </a:spcAft>
            </a:pPr>
            <a:r>
              <a:rPr sz="1900" b="0">
                <a:solidFill>
                  <a:srgbClr val="0B0B0B"/>
                </a:solidFill>
                <a:latin typeface="Calibri"/>
              </a:rPr>
              <a:t>•  Goal: maximize strength-to-weight.</a:t>
            </a:r>
          </a:p>
          <a:p>
            <a:pPr algn="l" lvl="1">
              <a:spcAft>
                <a:spcPts val="1200"/>
              </a:spcAft>
            </a:pPr>
            <a:r>
              <a:rPr sz="1900" b="0">
                <a:solidFill>
                  <a:srgbClr val="0B0B0B"/>
                </a:solidFill>
                <a:latin typeface="Calibri"/>
              </a:rPr>
              <a:t>•  Constraint you can't dodge: each print-and-test is slow and expensive, so you get very few.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The challenge</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isection.png"/>
          <p:cNvPicPr>
            <a:picLocks noChangeAspect="1"/>
          </p:cNvPicPr>
          <p:nvPr/>
        </p:nvPicPr>
        <p:blipFill>
          <a:blip r:embed="rId2"/>
          <a:stretch>
            <a:fillRect/>
          </a:stretch>
        </p:blipFill>
        <p:spPr>
          <a:xfrm>
            <a:off x="3992727" y="1371600"/>
            <a:ext cx="4206240" cy="4206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Why this is hard</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a:spcAft>
                <a:spcPts val="1200"/>
              </a:spcAft>
            </a:pPr>
            <a:r>
              <a:rPr sz="2000" b="0">
                <a:solidFill>
                  <a:srgbClr val="0B0B0B"/>
                </a:solidFill>
                <a:latin typeface="Calibri"/>
              </a:rPr>
              <a:t>Three things stand between you and a clean optimization:</a:t>
            </a:r>
          </a:p>
          <a:p>
            <a:pPr algn="l" lvl="1">
              <a:spcAft>
                <a:spcPts val="1200"/>
              </a:spcAft>
            </a:pPr>
            <a:r>
              <a:rPr sz="1800" b="0">
                <a:solidFill>
                  <a:srgbClr val="0B0B0B"/>
                </a:solidFill>
                <a:latin typeface="Calibri"/>
              </a:rPr>
              <a:t>•  Printed beams can fracture along the layer lines: the flange peels off the web at a printed interface whose strength appears in no handbook.</a:t>
            </a:r>
          </a:p>
          <a:p>
            <a:pPr algn="l" lvl="1">
              <a:spcAft>
                <a:spcPts val="1200"/>
              </a:spcAft>
            </a:pPr>
            <a:r>
              <a:rPr sz="1800" b="0">
                <a:solidFill>
                  <a:srgbClr val="0B0B0B"/>
                </a:solidFill>
                <a:latin typeface="Calibri"/>
              </a:rPr>
              <a:t>•  Lateral-torsional buckling depends on the fixture, not just the beam.</a:t>
            </a:r>
          </a:p>
          <a:p>
            <a:pPr algn="l" lvl="1">
              <a:spcAft>
                <a:spcPts val="1200"/>
              </a:spcAft>
            </a:pPr>
            <a:r>
              <a:rPr sz="1800" b="0">
                <a:solidFill>
                  <a:srgbClr val="0B0B0B"/>
                </a:solidFill>
                <a:latin typeface="Calibri"/>
              </a:rPr>
              <a:t>•  The failure modes overlap. Real beams fail in mixed, progressive ways.</a:t>
            </a:r>
          </a:p>
          <a:p>
            <a:pPr algn="l">
              <a:spcAft>
                <a:spcPts val="1200"/>
              </a:spcAft>
            </a:pPr>
            <a:r>
              <a:rPr sz="2000" b="0">
                <a:solidFill>
                  <a:srgbClr val="0B0B0B"/>
                </a:solidFill>
                <a:latin typeface="Calibri"/>
              </a:rPr>
              <a:t>We will price the layer-line mode with one calibrated number — but that number drifts with print session and support condition, and the other two problems remain. The equations narrow the problem without solving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Three modeled capacity branches</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lvl="1">
              <a:spcAft>
                <a:spcPts val="1200"/>
              </a:spcAft>
            </a:pPr>
            <a:r>
              <a:rPr sz="1900" b="0">
                <a:solidFill>
                  <a:srgbClr val="0B0B0B"/>
                </a:solidFill>
                <a:latin typeface="Calibri"/>
              </a:rPr>
              <a:t>•  Bending: the beam yields in flexure.</a:t>
            </a:r>
          </a:p>
          <a:p>
            <a:pPr algn="l" lvl="1">
              <a:spcAft>
                <a:spcPts val="1200"/>
              </a:spcAft>
            </a:pPr>
            <a:r>
              <a:rPr sz="1900" b="0">
                <a:solidFill>
                  <a:srgbClr val="0B0B0B"/>
                </a:solidFill>
                <a:latin typeface="Calibri"/>
              </a:rPr>
              <a:t>•  Flange-web separation: the shear flow at the printed junction exceeds the layer-line bond strength.</a:t>
            </a:r>
          </a:p>
          <a:p>
            <a:pPr algn="l" lvl="1">
              <a:spcAft>
                <a:spcPts val="1200"/>
              </a:spcAft>
            </a:pPr>
            <a:r>
              <a:rPr sz="1900" b="0">
                <a:solidFill>
                  <a:srgbClr val="0B0B0B"/>
                </a:solidFill>
                <a:latin typeface="Calibri"/>
              </a:rPr>
              <a:t>•  Lateral-torsional buckling (LTB): the beam tips over sideways.</a:t>
            </a:r>
          </a:p>
          <a:p>
            <a:pPr algn="l">
              <a:spcAft>
                <a:spcPts val="1200"/>
              </a:spcAft>
            </a:pPr>
            <a:r>
              <a:rPr sz="2100" b="0">
                <a:solidFill>
                  <a:srgbClr val="0B0B0B"/>
                </a:solidFill>
                <a:latin typeface="Calibri"/>
              </a:rPr>
              <a:t>The class capacity is the plain minimum of the three. The dominant-mode label is a model proxy, not proof of the observed fracture.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Bending</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end.png"/>
          <p:cNvPicPr>
            <a:picLocks noChangeAspect="1"/>
          </p:cNvPicPr>
          <p:nvPr/>
        </p:nvPicPr>
        <p:blipFill>
          <a:blip r:embed="rId2"/>
          <a:stretch>
            <a:fillRect/>
          </a:stretch>
        </p:blipFill>
        <p:spPr>
          <a:xfrm>
            <a:off x="4129523" y="1371600"/>
            <a:ext cx="3932648" cy="777240"/>
          </a:xfrm>
          <a:prstGeom prst="rect">
            <a:avLst/>
          </a:prstGeom>
        </p:spPr>
      </p:pic>
      <p:pic>
        <p:nvPicPr>
          <p:cNvPr id="5" name="Picture 4" descr="fig_bending_stress.png"/>
          <p:cNvPicPr>
            <a:picLocks noChangeAspect="1"/>
          </p:cNvPicPr>
          <p:nvPr/>
        </p:nvPicPr>
        <p:blipFill>
          <a:blip r:embed="rId3"/>
          <a:stretch>
            <a:fillRect/>
          </a:stretch>
        </p:blipFill>
        <p:spPr>
          <a:xfrm>
            <a:off x="3090254" y="2286000"/>
            <a:ext cx="6011186" cy="38404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Why I-beams work</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x_integral.png"/>
          <p:cNvPicPr>
            <a:picLocks noChangeAspect="1"/>
          </p:cNvPicPr>
          <p:nvPr/>
        </p:nvPicPr>
        <p:blipFill>
          <a:blip r:embed="rId2"/>
          <a:stretch>
            <a:fillRect/>
          </a:stretch>
        </p:blipFill>
        <p:spPr>
          <a:xfrm>
            <a:off x="3789433" y="2011680"/>
            <a:ext cx="4612829" cy="1554479"/>
          </a:xfrm>
          <a:prstGeom prst="rect">
            <a:avLst/>
          </a:prstGeom>
        </p:spPr>
      </p:pic>
      <p:sp>
        <p:nvSpPr>
          <p:cNvPr id="5" name="TextBox 4"/>
          <p:cNvSpPr txBox="1"/>
          <p:nvPr/>
        </p:nvSpPr>
        <p:spPr>
          <a:xfrm>
            <a:off x="1097280" y="4023360"/>
            <a:ext cx="10058400" cy="1828800"/>
          </a:xfrm>
          <a:prstGeom prst="rect">
            <a:avLst/>
          </a:prstGeom>
          <a:noFill/>
        </p:spPr>
        <p:txBody>
          <a:bodyPr wrap="square" anchor="t">
            <a:spAutoFit/>
          </a:bodyPr>
          <a:lstStyle/>
          <a:p>
            <a:pPr algn="ctr">
              <a:spcAft>
                <a:spcPts val="1000"/>
              </a:spcAft>
            </a:pPr>
            <a:r>
              <a:rPr sz="1900" b="0">
                <a:solidFill>
                  <a:srgbClr val="0B0B0B"/>
                </a:solidFill>
                <a:latin typeface="Calibri"/>
              </a:rPr>
              <a:t>Bending strength is carried by I_x, and I_x counts each bit of area by the square of its distance from the neutral axis.</a:t>
            </a:r>
          </a:p>
          <a:p>
            <a:pPr algn="ctr">
              <a:spcAft>
                <a:spcPts val="1000"/>
              </a:spcAft>
            </a:pPr>
            <a:r>
              <a:rPr sz="1900" b="0">
                <a:solidFill>
                  <a:srgbClr val="0B0B0B"/>
                </a:solidFill>
                <a:latin typeface="Calibri"/>
              </a:rPr>
              <a:t>Material at the edges earns its mass; material near the center barely helps.</a:t>
            </a:r>
          </a:p>
          <a:p>
            <a:pPr algn="ctr">
              <a:spcAft>
                <a:spcPts val="1000"/>
              </a:spcAft>
            </a:pPr>
            <a:r>
              <a:rPr sz="1900" b="0">
                <a:solidFill>
                  <a:srgbClr val="0B0B0B"/>
                </a:solidFill>
                <a:latin typeface="Calibri"/>
              </a:rPr>
              <a:t>So put the mass in flanges far out, top and bottom. The web holds them apart (sets the lever arm) and carries the shear.</a:t>
            </a:r>
          </a:p>
          <a:p>
            <a:pPr algn="ctr">
              <a:spcAft>
                <a:spcPts val="1000"/>
              </a:spcAft>
            </a:pPr>
            <a:r>
              <a:rPr sz="1900" b="0">
                <a:solidFill>
                  <a:srgbClr val="0B0B0B"/>
                </a:solidFill>
                <a:latin typeface="Calibri"/>
              </a:rPr>
              <a:t>Maximize I_x per gram: that is the strength-to-weight game this module plays.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Same mass, more stiffness</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why_ibeams.png"/>
          <p:cNvPicPr>
            <a:picLocks noChangeAspect="1"/>
          </p:cNvPicPr>
          <p:nvPr/>
        </p:nvPicPr>
        <p:blipFill>
          <a:blip r:embed="rId2"/>
          <a:stretch>
            <a:fillRect/>
          </a:stretch>
        </p:blipFill>
        <p:spPr>
          <a:xfrm>
            <a:off x="1752447" y="1371600"/>
            <a:ext cx="8686800" cy="4343400"/>
          </a:xfrm>
          <a:prstGeom prst="rect">
            <a:avLst/>
          </a:prstGeom>
        </p:spPr>
      </p:pic>
      <p:sp>
        <p:nvSpPr>
          <p:cNvPr id="5" name="TextBox 4"/>
          <p:cNvSpPr txBox="1"/>
          <p:nvPr/>
        </p:nvSpPr>
        <p:spPr>
          <a:xfrm>
            <a:off x="822960" y="5788152"/>
            <a:ext cx="10607040" cy="548640"/>
          </a:xfrm>
          <a:prstGeom prst="rect">
            <a:avLst/>
          </a:prstGeom>
          <a:noFill/>
        </p:spPr>
        <p:txBody>
          <a:bodyPr wrap="square" anchor="t">
            <a:spAutoFit/>
          </a:bodyPr>
          <a:lstStyle/>
          <a:p>
            <a:pPr algn="ctr">
              <a:spcAft>
                <a:spcPts val="600"/>
              </a:spcAft>
            </a:pPr>
            <a:r>
              <a:rPr sz="1500" b="0">
                <a:solidFill>
                  <a:srgbClr val="0B0B0B"/>
                </a:solidFill>
                <a:latin typeface="Calibri"/>
              </a:rPr>
              <a:t>Three sections of equal area. Relocating the same material to the flanges multiplies I_x.</a:t>
            </a:r>
          </a:p>
        </p:txBody>
      </p:sp>
      <p:sp>
        <p:nvSpPr>
          <p:cNvPr id="6" name="TextBox 5"/>
          <p:cNvSpPr txBox="1"/>
          <p:nvPr/>
        </p:nvSpPr>
        <p:spPr>
          <a:xfrm>
            <a:off x="822960" y="6245352"/>
            <a:ext cx="10607040" cy="365760"/>
          </a:xfrm>
          <a:prstGeom prst="rect">
            <a:avLst/>
          </a:prstGeom>
          <a:noFill/>
        </p:spPr>
        <p:txBody>
          <a:bodyPr wrap="square" anchor="t">
            <a:spAutoFit/>
          </a:bodyPr>
          <a:lstStyle/>
          <a:p>
            <a:pPr algn="ctr">
              <a:spcAft>
                <a:spcPts val="600"/>
              </a:spcAft>
            </a:pPr>
            <a:r>
              <a:rPr sz="1150" b="0">
                <a:solidFill>
                  <a:srgbClr val="52514E"/>
                </a:solidFill>
                <a:latin typeface="Calibri"/>
              </a:rPr>
              <a:t>Even against a solid bar of the same height, the I-beam wins: its mass sits at the extreme fibers.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The catch</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a:spcAft>
                <a:spcPts val="1200"/>
              </a:spcAft>
            </a:pPr>
            <a:r>
              <a:rPr sz="2100" b="0">
                <a:solidFill>
                  <a:srgbClr val="0B0B0B"/>
                </a:solidFill>
                <a:latin typeface="Calibri"/>
              </a:rPr>
              <a:t>The I-beam logic says: thinner web, taller section, mass pushed outward.</a:t>
            </a:r>
          </a:p>
          <a:p>
            <a:pPr algn="l">
              <a:spcAft>
                <a:spcPts val="1200"/>
              </a:spcAft>
            </a:pPr>
            <a:r>
              <a:rPr sz="2100" b="0">
                <a:solidFill>
                  <a:srgbClr val="0B0B0B"/>
                </a:solidFill>
                <a:latin typeface="Calibri"/>
              </a:rPr>
              <a:t>Push too far and you wake the other two modes:</a:t>
            </a:r>
          </a:p>
          <a:p>
            <a:pPr algn="l" lvl="1">
              <a:spcAft>
                <a:spcPts val="1200"/>
              </a:spcAft>
            </a:pPr>
            <a:r>
              <a:rPr sz="1900" b="0">
                <a:solidFill>
                  <a:srgbClr val="0B0B0B"/>
                </a:solidFill>
                <a:latin typeface="Calibri"/>
              </a:rPr>
              <a:t>•  a flange-web junction too thin to carry the shear flow — the printed layer-line bond lets go,</a:t>
            </a:r>
          </a:p>
          <a:p>
            <a:pPr algn="l" lvl="1">
              <a:spcAft>
                <a:spcPts val="1200"/>
              </a:spcAft>
            </a:pPr>
            <a:r>
              <a:rPr sz="1900" b="0">
                <a:solidFill>
                  <a:srgbClr val="0B0B0B"/>
                </a:solidFill>
                <a:latin typeface="Calibri"/>
              </a:rPr>
              <a:t>•  a section too tall and narrow, which tips over (LTB) before it ever yields.</a:t>
            </a:r>
          </a:p>
          <a:p>
            <a:pPr algn="l">
              <a:spcAft>
                <a:spcPts val="1200"/>
              </a:spcAft>
            </a:pPr>
            <a:r>
              <a:rPr sz="2100" b="0">
                <a:solidFill>
                  <a:srgbClr val="0B0B0B"/>
                </a:solidFill>
                <a:latin typeface="Calibri"/>
              </a:rPr>
              <a:t>The efficient shape and the failure modes pull against each other; resolving that tension is the design problem.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Flange-web separation: shear flow at the printed junction</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epflow.png"/>
          <p:cNvPicPr>
            <a:picLocks noChangeAspect="1"/>
          </p:cNvPicPr>
          <p:nvPr/>
        </p:nvPicPr>
        <p:blipFill>
          <a:blip r:embed="rId2"/>
          <a:stretch>
            <a:fillRect/>
          </a:stretch>
        </p:blipFill>
        <p:spPr>
          <a:xfrm>
            <a:off x="2986887" y="1371600"/>
            <a:ext cx="6217920" cy="777240"/>
          </a:xfrm>
          <a:prstGeom prst="rect">
            <a:avLst/>
          </a:prstGeom>
        </p:spPr>
      </p:pic>
      <p:pic>
        <p:nvPicPr>
          <p:cNvPr id="5" name="Picture 4" descr="fig_shear_web.png"/>
          <p:cNvPicPr>
            <a:picLocks noChangeAspect="1"/>
          </p:cNvPicPr>
          <p:nvPr/>
        </p:nvPicPr>
        <p:blipFill>
          <a:blip r:embed="rId3"/>
          <a:stretch>
            <a:fillRect/>
          </a:stretch>
        </p:blipFill>
        <p:spPr>
          <a:xfrm>
            <a:off x="3376501" y="2286000"/>
            <a:ext cx="5438692" cy="3474720"/>
          </a:xfrm>
          <a:prstGeom prst="rect">
            <a:avLst/>
          </a:prstGeom>
        </p:spPr>
      </p:pic>
      <p:sp>
        <p:nvSpPr>
          <p:cNvPr id="6" name="TextBox 5"/>
          <p:cNvSpPr txBox="1"/>
          <p:nvPr/>
        </p:nvSpPr>
        <p:spPr>
          <a:xfrm>
            <a:off x="822960" y="5833872"/>
            <a:ext cx="10607040" cy="548640"/>
          </a:xfrm>
          <a:prstGeom prst="rect">
            <a:avLst/>
          </a:prstGeom>
          <a:noFill/>
        </p:spPr>
        <p:txBody>
          <a:bodyPr wrap="square" anchor="t">
            <a:spAutoFit/>
          </a:bodyPr>
          <a:lstStyle/>
          <a:p>
            <a:pPr algn="ctr">
              <a:spcAft>
                <a:spcPts val="600"/>
              </a:spcAft>
            </a:pPr>
            <a:r>
              <a:rPr sz="1500" b="0">
                <a:solidFill>
                  <a:srgbClr val="0B0B0B"/>
                </a:solidFill>
                <a:latin typeface="Calibri"/>
              </a:rPr>
              <a:t>Every observed shear-type failure is a flange peeling off the web. The stress on that plane is the classic built-up-beam shear flow (V = P/2).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What the separation check assumes</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a:spcAft>
                <a:spcPts val="1200"/>
              </a:spcAft>
            </a:pPr>
            <a:r>
              <a:rPr sz="2200" b="0">
                <a:solidFill>
                  <a:srgbClr val="0B0B0B"/>
                </a:solidFill>
                <a:latin typeface="Calibri"/>
              </a:rPr>
              <a:t>The stress measure is textbook mechanics — the same glue-line check used for any built-up member.</a:t>
            </a:r>
          </a:p>
          <a:p>
            <a:pPr algn="l">
              <a:spcAft>
                <a:spcPts val="1200"/>
              </a:spcAft>
            </a:pPr>
            <a:r>
              <a:rPr sz="2200" b="0">
                <a:solidFill>
                  <a:srgbClr val="0B0B0B"/>
                </a:solidFill>
                <a:latin typeface="Calibri"/>
              </a:rPr>
              <a:t>The strength side is not: tau_i is the bond strength along the printed layer lines, weaker than the bulk plastic, listed in no handbook.</a:t>
            </a:r>
          </a:p>
          <a:p>
            <a:pPr algn="l">
              <a:spcAft>
                <a:spcPts val="1200"/>
              </a:spcAft>
            </a:pPr>
            <a:r>
              <a:rPr sz="2200" b="0">
                <a:solidFill>
                  <a:srgbClr val="0B0B0B"/>
                </a:solidFill>
                <a:latin typeface="Calibri"/>
              </a:rPr>
              <a:t>Pre-lab 1 starts it at the bulk guess sigma_y/sqrt(3) = 43.9 MPa and calibrates it from the data — it lands near 18 MPa, and it drifts with print session and support condition.</a:t>
            </a:r>
          </a:p>
          <a:p>
            <a:pPr algn="l">
              <a:spcAft>
                <a:spcPts val="1200"/>
              </a:spcAft>
            </a:pPr>
            <a:r>
              <a:rPr sz="2200" b="0">
                <a:solidFill>
                  <a:srgbClr val="0B0B0B"/>
                </a:solidFill>
                <a:latin typeface="Calibri"/>
              </a:rPr>
              <a:t>The check predicts a capacity trend on one candidate plane. It is a dominant-mode proxy, not a fracture diagnosis.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Fracture vs yield, on the test machine</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brittle_traces.png"/>
          <p:cNvPicPr>
            <a:picLocks noChangeAspect="1"/>
          </p:cNvPicPr>
          <p:nvPr/>
        </p:nvPicPr>
        <p:blipFill>
          <a:blip r:embed="rId2"/>
          <a:stretch>
            <a:fillRect/>
          </a:stretch>
        </p:blipFill>
        <p:spPr>
          <a:xfrm>
            <a:off x="2696664" y="1371600"/>
            <a:ext cx="6798365" cy="4343400"/>
          </a:xfrm>
          <a:prstGeom prst="rect">
            <a:avLst/>
          </a:prstGeom>
        </p:spPr>
      </p:pic>
      <p:sp>
        <p:nvSpPr>
          <p:cNvPr id="5" name="TextBox 4"/>
          <p:cNvSpPr txBox="1"/>
          <p:nvPr/>
        </p:nvSpPr>
        <p:spPr>
          <a:xfrm>
            <a:off x="822960" y="5788152"/>
            <a:ext cx="10607040" cy="548640"/>
          </a:xfrm>
          <a:prstGeom prst="rect">
            <a:avLst/>
          </a:prstGeom>
          <a:noFill/>
        </p:spPr>
        <p:txBody>
          <a:bodyPr wrap="square" anchor="t">
            <a:spAutoFit/>
          </a:bodyPr>
          <a:lstStyle/>
          <a:p>
            <a:pPr algn="ctr">
              <a:spcAft>
                <a:spcPts val="600"/>
              </a:spcAft>
            </a:pPr>
            <a:r>
              <a:rPr sz="1500" b="0">
                <a:solidFill>
                  <a:srgbClr val="0B0B0B"/>
                </a:solidFill>
                <a:latin typeface="Calibri"/>
              </a:rPr>
              <a:t>Same fixture, same material. Thin webs shed the load in one drop; thicker webs plateau.</a:t>
            </a:r>
          </a:p>
        </p:txBody>
      </p:sp>
      <p:sp>
        <p:nvSpPr>
          <p:cNvPr id="6" name="TextBox 5"/>
          <p:cNvSpPr txBox="1"/>
          <p:nvPr/>
        </p:nvSpPr>
        <p:spPr>
          <a:xfrm>
            <a:off x="822960" y="6245352"/>
            <a:ext cx="10607040" cy="365760"/>
          </a:xfrm>
          <a:prstGeom prst="rect">
            <a:avLst/>
          </a:prstGeom>
          <a:noFill/>
        </p:spPr>
        <p:txBody>
          <a:bodyPr wrap="square" anchor="t">
            <a:spAutoFit/>
          </a:bodyPr>
          <a:lstStyle/>
          <a:p>
            <a:pPr algn="ctr">
              <a:spcAft>
                <a:spcPts val="600"/>
              </a:spcAft>
            </a:pPr>
            <a:r>
              <a:rPr sz="1150" b="0">
                <a:solidFill>
                  <a:srgbClr val="52514E"/>
                </a:solidFill>
                <a:latin typeface="Calibri"/>
              </a:rPr>
              <a:t>No equation on the previous slides distinguishes these two endings.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Lateral-torsional buckling: the idea</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tb.png"/>
          <p:cNvPicPr>
            <a:picLocks noChangeAspect="1"/>
          </p:cNvPicPr>
          <p:nvPr/>
        </p:nvPicPr>
        <p:blipFill>
          <a:blip r:embed="rId2"/>
          <a:stretch>
            <a:fillRect/>
          </a:stretch>
        </p:blipFill>
        <p:spPr>
          <a:xfrm>
            <a:off x="3107953" y="2011680"/>
            <a:ext cx="5975789" cy="1554480"/>
          </a:xfrm>
          <a:prstGeom prst="rect">
            <a:avLst/>
          </a:prstGeom>
        </p:spPr>
      </p:pic>
      <p:sp>
        <p:nvSpPr>
          <p:cNvPr id="5" name="TextBox 4"/>
          <p:cNvSpPr txBox="1"/>
          <p:nvPr/>
        </p:nvSpPr>
        <p:spPr>
          <a:xfrm>
            <a:off x="1097280" y="4023360"/>
            <a:ext cx="10058400" cy="1828800"/>
          </a:xfrm>
          <a:prstGeom prst="rect">
            <a:avLst/>
          </a:prstGeom>
          <a:noFill/>
        </p:spPr>
        <p:txBody>
          <a:bodyPr wrap="square" anchor="t">
            <a:spAutoFit/>
          </a:bodyPr>
          <a:lstStyle/>
          <a:p>
            <a:pPr algn="ctr">
              <a:spcAft>
                <a:spcPts val="1000"/>
              </a:spcAft>
            </a:pPr>
            <a:r>
              <a:rPr sz="1900" b="0">
                <a:solidFill>
                  <a:srgbClr val="0B0B0B"/>
                </a:solidFill>
                <a:latin typeface="Calibri"/>
              </a:rPr>
              <a:t>A tall, thin-flanged beam does not yield in place. It rolls sideways and twists at a load below its bending strength — a stability failure, not a strength one.</a:t>
            </a:r>
          </a:p>
          <a:p>
            <a:pPr algn="ctr">
              <a:spcAft>
                <a:spcPts val="1000"/>
              </a:spcAft>
            </a:pPr>
            <a:r>
              <a:rPr sz="1900" b="0">
                <a:solidFill>
                  <a:srgbClr val="0B0B0B"/>
                </a:solidFill>
                <a:latin typeface="Calibri"/>
              </a:rPr>
              <a:t>The elastic critical moment, in the Eurocode C1/C2 closed form (Timoshenko elastic-stability theory).</a:t>
            </a:r>
          </a:p>
          <a:p>
            <a:pPr algn="ctr">
              <a:spcAft>
                <a:spcPts val="1000"/>
              </a:spcAft>
            </a:pPr>
            <a:r>
              <a:rPr sz="1900" b="0">
                <a:solidFill>
                  <a:srgbClr val="0B0B0B"/>
                </a:solidFill>
                <a:latin typeface="Calibri"/>
              </a:rPr>
              <a:t>The next four slides open up every symbol, because LTB decides your optimum and rests on the most assumptions.</a:t>
            </a:r>
          </a:p>
          <a:p>
            <a:pPr algn="ctr">
              <a:spcAft>
                <a:spcPts val="1000"/>
              </a:spcAft>
            </a:pPr>
            <a:r>
              <a:rPr sz="1900" b="0">
                <a:solidFill>
                  <a:srgbClr val="0B0B0B"/>
                </a:solidFill>
                <a:latin typeface="Calibri"/>
              </a:rPr>
              <a:t>You will not re-derive any of it: P_LTB arrives pre-coded in Pre-lab 1. The goal is to read that code knowing what each symbol assumes.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The critical moment, term by term</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tb_R.png"/>
          <p:cNvPicPr>
            <a:picLocks noChangeAspect="1"/>
          </p:cNvPicPr>
          <p:nvPr/>
        </p:nvPicPr>
        <p:blipFill>
          <a:blip r:embed="rId2"/>
          <a:stretch>
            <a:fillRect/>
          </a:stretch>
        </p:blipFill>
        <p:spPr>
          <a:xfrm>
            <a:off x="3000334" y="2011680"/>
            <a:ext cx="6191025" cy="1554480"/>
          </a:xfrm>
          <a:prstGeom prst="rect">
            <a:avLst/>
          </a:prstGeom>
        </p:spPr>
      </p:pic>
      <p:sp>
        <p:nvSpPr>
          <p:cNvPr id="5" name="TextBox 4"/>
          <p:cNvSpPr txBox="1"/>
          <p:nvPr/>
        </p:nvSpPr>
        <p:spPr>
          <a:xfrm>
            <a:off x="1097280" y="4023360"/>
            <a:ext cx="10058400" cy="1828800"/>
          </a:xfrm>
          <a:prstGeom prst="rect">
            <a:avLst/>
          </a:prstGeom>
          <a:noFill/>
        </p:spPr>
        <p:txBody>
          <a:bodyPr wrap="square" anchor="t">
            <a:spAutoFit/>
          </a:bodyPr>
          <a:lstStyle/>
          <a:p>
            <a:pPr algn="ctr">
              <a:spcAft>
                <a:spcPts val="1000"/>
              </a:spcAft>
            </a:pPr>
            <a:r>
              <a:rPr sz="1900" b="0">
                <a:solidFill>
                  <a:srgbClr val="0B0B0B"/>
                </a:solidFill>
                <a:latin typeface="Calibri"/>
              </a:rPr>
              <a:t>Under the root, three effects trade against each other:</a:t>
            </a:r>
          </a:p>
          <a:p>
            <a:pPr algn="ctr">
              <a:spcAft>
                <a:spcPts val="1000"/>
              </a:spcAft>
            </a:pPr>
            <a:r>
              <a:rPr sz="1900" b="0">
                <a:solidFill>
                  <a:srgbClr val="0B0B0B"/>
                </a:solidFill>
                <a:latin typeface="Calibri"/>
              </a:rPr>
              <a:t>C_w / I_y  —  warping rigidity: the flanges resisting counter-bending.</a:t>
            </a:r>
          </a:p>
          <a:p>
            <a:pPr algn="ctr">
              <a:spcAft>
                <a:spcPts val="1000"/>
              </a:spcAft>
            </a:pPr>
            <a:r>
              <a:rPr sz="1900" b="0">
                <a:solidFill>
                  <a:srgbClr val="0B0B0B"/>
                </a:solidFill>
                <a:latin typeface="Calibri"/>
              </a:rPr>
              <a:t>L_b^2 GJ / (pi^2 E I_y)  —  St. Venant torsion: the open section's twisting stiffness.</a:t>
            </a:r>
          </a:p>
          <a:p>
            <a:pPr algn="ctr">
              <a:spcAft>
                <a:spcPts val="1000"/>
              </a:spcAft>
            </a:pPr>
            <a:r>
              <a:rPr sz="1900" b="0">
                <a:solidFill>
                  <a:srgbClr val="0B0B0B"/>
                </a:solidFill>
                <a:latin typeface="Calibri"/>
              </a:rPr>
              <a:t>(C_2 z_g)^2  —  load height: loading the top flange is destabilizing, so it subtracts.</a:t>
            </a:r>
          </a:p>
          <a:p>
            <a:pPr algn="ctr">
              <a:spcAft>
                <a:spcPts val="1000"/>
              </a:spcAft>
            </a:pPr>
            <a:r>
              <a:rPr sz="1900" b="0">
                <a:solidFill>
                  <a:srgbClr val="0B0B0B"/>
                </a:solidFill>
                <a:latin typeface="Calibri"/>
              </a:rPr>
              <a:t>C_1 = 1.35 (central point load),  C_2 = 0.55 (load-height factor).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From critical moment to a load</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tb_cap.png"/>
          <p:cNvPicPr>
            <a:picLocks noChangeAspect="1"/>
          </p:cNvPicPr>
          <p:nvPr/>
        </p:nvPicPr>
        <p:blipFill>
          <a:blip r:embed="rId2"/>
          <a:stretch>
            <a:fillRect/>
          </a:stretch>
        </p:blipFill>
        <p:spPr>
          <a:xfrm>
            <a:off x="1752447" y="2011680"/>
            <a:ext cx="8686800" cy="1411921"/>
          </a:xfrm>
          <a:prstGeom prst="rect">
            <a:avLst/>
          </a:prstGeom>
        </p:spPr>
      </p:pic>
      <p:sp>
        <p:nvSpPr>
          <p:cNvPr id="5" name="TextBox 4"/>
          <p:cNvSpPr txBox="1"/>
          <p:nvPr/>
        </p:nvSpPr>
        <p:spPr>
          <a:xfrm>
            <a:off x="1097280" y="3880801"/>
            <a:ext cx="10058400" cy="1828800"/>
          </a:xfrm>
          <a:prstGeom prst="rect">
            <a:avLst/>
          </a:prstGeom>
          <a:noFill/>
        </p:spPr>
        <p:txBody>
          <a:bodyPr wrap="square" anchor="t">
            <a:spAutoFit/>
          </a:bodyPr>
          <a:lstStyle/>
          <a:p>
            <a:pPr algn="ctr">
              <a:spcAft>
                <a:spcPts val="1000"/>
              </a:spcAft>
            </a:pPr>
            <a:r>
              <a:rPr sz="1900" b="0">
                <a:solidFill>
                  <a:srgbClr val="0B0B0B"/>
                </a:solidFill>
                <a:latin typeface="Calibri"/>
              </a:rPr>
              <a:t>The beam cannot exceed its yield moment, so LTB is capped at yield:</a:t>
            </a:r>
          </a:p>
          <a:p>
            <a:pPr algn="ctr">
              <a:spcAft>
                <a:spcPts val="1000"/>
              </a:spcAft>
            </a:pPr>
            <a:r>
              <a:rPr sz="1900" b="0">
                <a:solidFill>
                  <a:srgbClr val="0B0B0B"/>
                </a:solidFill>
                <a:latin typeface="Calibri"/>
              </a:rPr>
              <a:t>take the smaller of the elastic buckling moment and the yield moment,</a:t>
            </a:r>
          </a:p>
          <a:p>
            <a:pPr algn="ctr">
              <a:spcAft>
                <a:spcPts val="1000"/>
              </a:spcAft>
            </a:pPr>
            <a:r>
              <a:rPr sz="1900" b="0">
                <a:solidFill>
                  <a:srgbClr val="0B0B0B"/>
                </a:solidFill>
                <a:latin typeface="Calibri"/>
              </a:rPr>
              <a:t>convert moment to load with M_max = PL/4, so P = 4M / L,</a:t>
            </a:r>
          </a:p>
          <a:p>
            <a:pPr algn="ctr">
              <a:spcAft>
                <a:spcPts val="1000"/>
              </a:spcAft>
            </a:pPr>
            <a:r>
              <a:rPr sz="1900" b="0">
                <a:solidFill>
                  <a:srgbClr val="0B0B0B"/>
                </a:solidFill>
                <a:latin typeface="Calibri"/>
              </a:rPr>
              <a:t>with L_b = kL and z_g = c = TH/2 (load at the top surface).</a:t>
            </a:r>
          </a:p>
          <a:p>
            <a:pPr algn="ctr">
              <a:spcAft>
                <a:spcPts val="1000"/>
              </a:spcAft>
            </a:pPr>
            <a:r>
              <a:rPr sz="1900" b="0">
                <a:solidFill>
                  <a:srgbClr val="0B0B0B"/>
                </a:solidFill>
                <a:latin typeface="Calibri"/>
              </a:rPr>
              <a:t>The min is a crude nod to inelastic buckling.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What feeds it: the section constants</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ec_all.png"/>
          <p:cNvPicPr>
            <a:picLocks noChangeAspect="1"/>
          </p:cNvPicPr>
          <p:nvPr/>
        </p:nvPicPr>
        <p:blipFill>
          <a:blip r:embed="rId2"/>
          <a:stretch>
            <a:fillRect/>
          </a:stretch>
        </p:blipFill>
        <p:spPr>
          <a:xfrm>
            <a:off x="2651818" y="1417320"/>
            <a:ext cx="6888058" cy="2651760"/>
          </a:xfrm>
          <a:prstGeom prst="rect">
            <a:avLst/>
          </a:prstGeom>
        </p:spPr>
      </p:pic>
      <p:sp>
        <p:nvSpPr>
          <p:cNvPr id="5" name="TextBox 4"/>
          <p:cNvSpPr txBox="1"/>
          <p:nvPr/>
        </p:nvSpPr>
        <p:spPr>
          <a:xfrm>
            <a:off x="640080" y="4297680"/>
            <a:ext cx="10972800" cy="2377440"/>
          </a:xfrm>
          <a:prstGeom prst="rect">
            <a:avLst/>
          </a:prstGeom>
          <a:noFill/>
        </p:spPr>
        <p:txBody>
          <a:bodyPr wrap="square" anchor="t">
            <a:spAutoFit/>
          </a:bodyPr>
          <a:lstStyle/>
          <a:p>
            <a:pPr algn="l" lvl="1">
              <a:spcAft>
                <a:spcPts val="800"/>
              </a:spcAft>
            </a:pPr>
            <a:r>
              <a:rPr sz="1500" b="0">
                <a:solidFill>
                  <a:srgbClr val="0B0B0B"/>
                </a:solidFill>
                <a:latin typeface="Calibri"/>
              </a:rPr>
              <a:t>•  I_y: weak-axis stiffness — small for narrow flanges, which is why tall thin beams tip.</a:t>
            </a:r>
          </a:p>
          <a:p>
            <a:pPr algn="l" lvl="1">
              <a:spcAft>
                <a:spcPts val="800"/>
              </a:spcAft>
            </a:pPr>
            <a:r>
              <a:rPr sz="1500" b="0">
                <a:solidFill>
                  <a:srgbClr val="0B0B0B"/>
                </a:solidFill>
                <a:latin typeface="Calibri"/>
              </a:rPr>
              <a:t>•  J: St. Venant torsion, summed over web and flanges as thin rectangles.</a:t>
            </a:r>
          </a:p>
          <a:p>
            <a:pPr algn="l" lvl="1">
              <a:spcAft>
                <a:spcPts val="800"/>
              </a:spcAft>
            </a:pPr>
            <a:r>
              <a:rPr sz="1500" b="0">
                <a:solidFill>
                  <a:srgbClr val="0B0B0B"/>
                </a:solidFill>
                <a:latin typeface="Calibri"/>
              </a:rPr>
              <a:t>•  C_w: warping constant, the flanges' resistance to counter-bending.</a:t>
            </a:r>
          </a:p>
          <a:p>
            <a:pPr algn="l">
              <a:spcAft>
                <a:spcPts val="800"/>
              </a:spcAft>
            </a:pPr>
            <a:r>
              <a:rPr sz="1700" b="0">
                <a:solidFill>
                  <a:srgbClr val="0B0B0B"/>
                </a:solidFill>
                <a:latin typeface="Calibri"/>
              </a:rPr>
              <a:t>All three come from section_props in Pre-lab 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The assumptions underneath</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a:spcAft>
                <a:spcPts val="1200"/>
              </a:spcAft>
            </a:pPr>
            <a:r>
              <a:rPr sz="1800" b="0">
                <a:solidFill>
                  <a:srgbClr val="0B0B0B"/>
                </a:solidFill>
                <a:latin typeface="Calibri"/>
              </a:rPr>
              <a:t>The formula is exact for an idealized beam, and ours differs from it in four ways.</a:t>
            </a:r>
          </a:p>
          <a:p>
            <a:pPr algn="l" lvl="1">
              <a:spcAft>
                <a:spcPts val="1200"/>
              </a:spcAft>
            </a:pPr>
            <a:r>
              <a:rPr sz="1600" b="0">
                <a:solidFill>
                  <a:srgbClr val="0B0B0B"/>
                </a:solidFill>
                <a:latin typeface="Calibri"/>
              </a:rPr>
              <a:t>•  Thin-walled open section: J and C_w use thin-rectangle theory. Webs up to 7 mm against a 10 mm flange stretch 'thin'; J drifts.</a:t>
            </a:r>
          </a:p>
          <a:p>
            <a:pPr algn="l" lvl="1">
              <a:spcAft>
                <a:spcPts val="1200"/>
              </a:spcAft>
            </a:pPr>
            <a:r>
              <a:rPr sz="1600" b="0">
                <a:solidFill>
                  <a:srgbClr val="0B0B0B"/>
                </a:solidFill>
                <a:latin typeface="Calibri"/>
              </a:rPr>
              <a:t>•  Timoshenko elastic stability: M_cr assumes linear-elastic, perfectly straight, no residual stress. A print has all three imperfections.</a:t>
            </a:r>
          </a:p>
          <a:p>
            <a:pPr algn="l" lvl="1">
              <a:spcAft>
                <a:spcPts val="1200"/>
              </a:spcAft>
            </a:pPr>
            <a:r>
              <a:rPr sz="1600" b="0">
                <a:solidFill>
                  <a:srgbClr val="0B0B0B"/>
                </a:solidFill>
                <a:latin typeface="Calibri"/>
              </a:rPr>
              <a:t>•  Warping torsion: the C_w term assumes ends free to warp. The real fixture restrains them — which is what k absorbs.</a:t>
            </a:r>
          </a:p>
          <a:p>
            <a:pPr algn="l" lvl="1">
              <a:spcAft>
                <a:spcPts val="1200"/>
              </a:spcAft>
            </a:pPr>
            <a:r>
              <a:rPr sz="1600" b="0">
                <a:solidFill>
                  <a:srgbClr val="0B0B0B"/>
                </a:solidFill>
                <a:latin typeface="Calibri"/>
              </a:rPr>
              <a:t>•  Elastic, isotropic material: E = 2.5 GPa, G = E/2.6 (nu = 0.3). Printed PLA is layered and anisotropic.</a:t>
            </a:r>
          </a:p>
          <a:p>
            <a:pPr algn="l">
              <a:spcAft>
                <a:spcPts val="1200"/>
              </a:spcAft>
            </a:pPr>
            <a:r>
              <a:rPr sz="1800" b="0">
                <a:solidFill>
                  <a:srgbClr val="0B0B0B"/>
                </a:solidFill>
                <a:latin typeface="Calibri"/>
              </a:rPr>
              <a:t>Each gap widens the error bar you should carry on the LTB capacity.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The one number that rules LTB: k</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_scale.png"/>
          <p:cNvPicPr>
            <a:picLocks noChangeAspect="1"/>
          </p:cNvPicPr>
          <p:nvPr/>
        </p:nvPicPr>
        <p:blipFill>
          <a:blip r:embed="rId2"/>
          <a:stretch>
            <a:fillRect/>
          </a:stretch>
        </p:blipFill>
        <p:spPr>
          <a:xfrm>
            <a:off x="1880423" y="2011680"/>
            <a:ext cx="8430847" cy="1554480"/>
          </a:xfrm>
          <a:prstGeom prst="rect">
            <a:avLst/>
          </a:prstGeom>
        </p:spPr>
      </p:pic>
      <p:sp>
        <p:nvSpPr>
          <p:cNvPr id="5" name="TextBox 4"/>
          <p:cNvSpPr txBox="1"/>
          <p:nvPr/>
        </p:nvSpPr>
        <p:spPr>
          <a:xfrm>
            <a:off x="1097280" y="4023360"/>
            <a:ext cx="10058400" cy="1828800"/>
          </a:xfrm>
          <a:prstGeom prst="rect">
            <a:avLst/>
          </a:prstGeom>
          <a:noFill/>
        </p:spPr>
        <p:txBody>
          <a:bodyPr wrap="square" anchor="t">
            <a:spAutoFit/>
          </a:bodyPr>
          <a:lstStyle/>
          <a:p>
            <a:pPr algn="ctr">
              <a:spcAft>
                <a:spcPts val="1000"/>
              </a:spcAft>
            </a:pPr>
            <a:r>
              <a:rPr sz="1900" b="0">
                <a:solidFill>
                  <a:srgbClr val="0B0B0B"/>
                </a:solidFill>
                <a:latin typeface="Calibri"/>
              </a:rPr>
              <a:t>k is the effective-length factor: how far the beam twists and bends sideways between whatever restrains it.</a:t>
            </a:r>
          </a:p>
          <a:p>
            <a:pPr algn="ctr">
              <a:spcAft>
                <a:spcPts val="1000"/>
              </a:spcAft>
            </a:pPr>
            <a:r>
              <a:rPr sz="1900" b="0">
                <a:solidFill>
                  <a:srgbClr val="0B0B0B"/>
                </a:solidFill>
                <a:latin typeface="Calibri"/>
              </a:rPr>
              <a:t>Set by the fixture — how the ends grip, whether they warp, where load lands — not by the beam.</a:t>
            </a:r>
          </a:p>
          <a:p>
            <a:pPr algn="ctr">
              <a:spcAft>
                <a:spcPts val="1000"/>
              </a:spcAft>
            </a:pPr>
            <a:r>
              <a:rPr sz="1900" b="0">
                <a:solidFill>
                  <a:srgbClr val="0B0B0B"/>
                </a:solidFill>
                <a:latin typeface="Calibri"/>
              </a:rPr>
              <a:t>Textbook k = 1 is a simply-supported fork end free to warp; stiffer restraint drops k below 1.</a:t>
            </a:r>
          </a:p>
          <a:p>
            <a:pPr algn="ctr">
              <a:spcAft>
                <a:spcPts val="1000"/>
              </a:spcAft>
            </a:pPr>
            <a:r>
              <a:rPr sz="1900" b="0">
                <a:solidFill>
                  <a:srgbClr val="0B0B0B"/>
                </a:solidFill>
                <a:latin typeface="Calibri"/>
              </a:rPr>
              <a:t>Handbook starting value k = 0.33. Calibration on the class subset gives k = 0.377, which sets the equation design.</a:t>
            </a:r>
          </a:p>
          <a:p>
            <a:pPr algn="ctr">
              <a:spcAft>
                <a:spcPts val="1000"/>
              </a:spcAft>
            </a:pPr>
            <a:r>
              <a:rPr sz="1900" b="0">
                <a:solidFill>
                  <a:srgbClr val="0B0B0B"/>
                </a:solidFill>
                <a:latin typeface="Calibri"/>
              </a:rPr>
              <a:t>Since M_cr ~ 1/k^2, a small change swings LTB hard — and the calibrated equation optimum sits on a bend-LTB knife edge (capacities within ~1%). k does not transfer between fixtures: confirm it on ours before betting on that optimum.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LTB: what you must own, and what is background</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a:spcAft>
                <a:spcPts val="1200"/>
              </a:spcAft>
            </a:pPr>
            <a:r>
              <a:rPr sz="1900" b="0">
                <a:solidFill>
                  <a:srgbClr val="0B0B0B"/>
                </a:solidFill>
                <a:latin typeface="Calibri"/>
              </a:rPr>
              <a:t>You just saw Iy, J, Cw, warping, load height, and effective length. You are responsible for this much of it:</a:t>
            </a:r>
          </a:p>
          <a:p>
            <a:pPr algn="l" lvl="1">
              <a:spcAft>
                <a:spcPts val="1200"/>
              </a:spcAft>
            </a:pPr>
            <a:r>
              <a:rPr sz="1700" b="0">
                <a:solidFill>
                  <a:srgbClr val="0B0B0B"/>
                </a:solidFill>
                <a:latin typeface="Calibri"/>
              </a:rPr>
              <a:t>•  Yours: what LTB is (a tall thin web tipping sideways before the material yields), when it competes (thin b, large H_web), what k means physically, and why a calibrated k does not transfer between fixtures.</a:t>
            </a:r>
          </a:p>
          <a:p>
            <a:pPr algn="l" lvl="1">
              <a:spcAft>
                <a:spcPts val="1200"/>
              </a:spcAft>
            </a:pPr>
            <a:r>
              <a:rPr sz="1700" b="0">
                <a:solidFill>
                  <a:srgbClr val="0B0B0B"/>
                </a:solidFill>
                <a:latin typeface="Calibri"/>
              </a:rPr>
              <a:t>•  Yours: reading the capacity plot — which branch governs where, and how much margin the runner-up has.</a:t>
            </a:r>
          </a:p>
          <a:p>
            <a:pPr algn="l" lvl="1">
              <a:spcAft>
                <a:spcPts val="1200"/>
              </a:spcAft>
            </a:pPr>
            <a:r>
              <a:rPr sz="1700" b="0">
                <a:solidFill>
                  <a:srgbClr val="0B0B0B"/>
                </a:solidFill>
                <a:latin typeface="Calibri"/>
              </a:rPr>
              <a:t>•  Background: deriving Iy, J, Cw, or the Mcr formula. The code is supplied; you will never derive or re-implement it in this module.</a:t>
            </a:r>
          </a:p>
          <a:p>
            <a:pPr algn="l">
              <a:spcAft>
                <a:spcPts val="1200"/>
              </a:spcAft>
            </a:pPr>
            <a:r>
              <a:rPr sz="1900" b="0">
                <a:solidFill>
                  <a:srgbClr val="0B0B0B"/>
                </a:solidFill>
                <a:latin typeface="Calibri"/>
              </a:rPr>
              <a:t>The test of understanding: what happens to the LTB branch if the fixture braces the compression flange, and would you still trust the equation optimum?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Which mode drives?</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failure_mode_map.png"/>
          <p:cNvPicPr>
            <a:picLocks noChangeAspect="1"/>
          </p:cNvPicPr>
          <p:nvPr/>
        </p:nvPicPr>
        <p:blipFill>
          <a:blip r:embed="rId2"/>
          <a:stretch>
            <a:fillRect/>
          </a:stretch>
        </p:blipFill>
        <p:spPr>
          <a:xfrm>
            <a:off x="3088878" y="1371600"/>
            <a:ext cx="6013938" cy="4343400"/>
          </a:xfrm>
          <a:prstGeom prst="rect">
            <a:avLst/>
          </a:prstGeom>
        </p:spPr>
      </p:pic>
      <p:sp>
        <p:nvSpPr>
          <p:cNvPr id="5" name="TextBox 4"/>
          <p:cNvSpPr txBox="1"/>
          <p:nvPr/>
        </p:nvSpPr>
        <p:spPr>
          <a:xfrm>
            <a:off x="822960" y="5788152"/>
            <a:ext cx="10607040" cy="548640"/>
          </a:xfrm>
          <a:prstGeom prst="rect">
            <a:avLst/>
          </a:prstGeom>
          <a:noFill/>
        </p:spPr>
        <p:txBody>
          <a:bodyPr wrap="square" anchor="t">
            <a:spAutoFit/>
          </a:bodyPr>
          <a:lstStyle/>
          <a:p>
            <a:pPr algn="ctr">
              <a:spcAft>
                <a:spcPts val="600"/>
              </a:spcAft>
            </a:pPr>
            <a:r>
              <a:rPr sz="1500" b="0">
                <a:solidFill>
                  <a:srgbClr val="0B0B0B"/>
                </a:solidFill>
                <a:latin typeface="Calibri"/>
              </a:rPr>
              <a:t>Tall thin webs tip (LTB). Short thin webs are separation-limited: junction shear flow beats the layer-line bond. The middle bends.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Does the theory match the data?</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a:spcAft>
                <a:spcPts val="1200"/>
              </a:spcAft>
            </a:pPr>
            <a:r>
              <a:rPr sz="2000" b="0">
                <a:solidFill>
                  <a:srgbClr val="0B0B0B"/>
                </a:solidFill>
                <a:latin typeface="Calibri"/>
              </a:rPr>
              <a:t>Pre-lab 1 answers this with your beam dataset: compute each beam's predicted capacity and mode, then plot predictions against measurements.</a:t>
            </a:r>
          </a:p>
          <a:p>
            <a:pPr algn="l">
              <a:spcAft>
                <a:spcPts val="1200"/>
              </a:spcAft>
            </a:pPr>
            <a:r>
              <a:rPr sz="2000" b="0">
                <a:solidFill>
                  <a:srgbClr val="0B0B0B"/>
                </a:solidFill>
                <a:latin typeface="Calibri"/>
              </a:rPr>
              <a:t>Watch for two things:</a:t>
            </a:r>
          </a:p>
          <a:p>
            <a:pPr algn="l" lvl="1">
              <a:spcAft>
                <a:spcPts val="1200"/>
              </a:spcAft>
            </a:pPr>
            <a:r>
              <a:rPr sz="1800" b="0">
                <a:solidFill>
                  <a:srgbClr val="0B0B0B"/>
                </a:solidFill>
                <a:latin typeface="Calibri"/>
              </a:rPr>
              <a:t>•  Points below the line: beams that broke before the equations said they would.</a:t>
            </a:r>
          </a:p>
          <a:p>
            <a:pPr algn="l" lvl="1">
              <a:spcAft>
                <a:spcPts val="1200"/>
              </a:spcAft>
            </a:pPr>
            <a:r>
              <a:rPr sz="1800" b="0">
                <a:solidFill>
                  <a:srgbClr val="0B0B0B"/>
                </a:solidFill>
                <a:latin typeface="Calibri"/>
              </a:rPr>
              <a:t>•  Beams whose recorded failure looks nothing like the predicted mode.</a:t>
            </a:r>
          </a:p>
          <a:p>
            <a:pPr algn="l">
              <a:spcAft>
                <a:spcPts val="1200"/>
              </a:spcAft>
            </a:pPr>
            <a:r>
              <a:rPr sz="2000" b="0">
                <a:solidFill>
                  <a:srgbClr val="0B0B0B"/>
                </a:solidFill>
                <a:latin typeface="Calibri"/>
              </a:rPr>
              <a:t>[Placeholder: parity plot from the 44-beam dataset once strength_N lands.]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One assumption, two different beams</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two_optima.png"/>
          <p:cNvPicPr>
            <a:picLocks noChangeAspect="1"/>
          </p:cNvPicPr>
          <p:nvPr/>
        </p:nvPicPr>
        <p:blipFill>
          <a:blip r:embed="rId2"/>
          <a:stretch>
            <a:fillRect/>
          </a:stretch>
        </p:blipFill>
        <p:spPr>
          <a:xfrm>
            <a:off x="792327" y="1371600"/>
            <a:ext cx="10607040" cy="4242816"/>
          </a:xfrm>
          <a:prstGeom prst="rect">
            <a:avLst/>
          </a:prstGeom>
        </p:spPr>
      </p:pic>
      <p:sp>
        <p:nvSpPr>
          <p:cNvPr id="5" name="TextBox 4"/>
          <p:cNvSpPr txBox="1"/>
          <p:nvPr/>
        </p:nvSpPr>
        <p:spPr>
          <a:xfrm>
            <a:off x="822960" y="5687568"/>
            <a:ext cx="10607040" cy="548640"/>
          </a:xfrm>
          <a:prstGeom prst="rect">
            <a:avLst/>
          </a:prstGeom>
          <a:noFill/>
        </p:spPr>
        <p:txBody>
          <a:bodyPr wrap="square" anchor="t">
            <a:spAutoFit/>
          </a:bodyPr>
          <a:lstStyle/>
          <a:p>
            <a:pPr algn="ctr">
              <a:spcAft>
                <a:spcPts val="600"/>
              </a:spcAft>
            </a:pPr>
            <a:r>
              <a:rPr sz="1500" b="0">
                <a:solidFill>
                  <a:srgbClr val="0B0B0B"/>
                </a:solidFill>
                <a:latin typeface="Calibri"/>
              </a:rPr>
              <a:t>Illustration: handbook starting values versus the class calibration (66.8 MPa, k = 0.377, tau_i = 16.8 MPa), which moves the equation optimum to (1.10, 13.25).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Where this leaves us</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a:spcAft>
                <a:spcPts val="1200"/>
              </a:spcAft>
            </a:pPr>
            <a:r>
              <a:rPr sz="2000" b="0">
                <a:solidFill>
                  <a:srgbClr val="0B0B0B"/>
                </a:solidFill>
                <a:latin typeface="Calibri"/>
              </a:rPr>
              <a:t>The equations are useful but partial:</a:t>
            </a:r>
          </a:p>
          <a:p>
            <a:pPr algn="l" lvl="1">
              <a:spcAft>
                <a:spcPts val="1200"/>
              </a:spcAft>
            </a:pPr>
            <a:r>
              <a:rPr sz="1800" b="0">
                <a:solidFill>
                  <a:srgbClr val="0B0B0B"/>
                </a:solidFill>
                <a:latin typeface="Calibri"/>
              </a:rPr>
              <a:t>•  they cannot tell a yield plateau from a one-drop fracture,</a:t>
            </a:r>
          </a:p>
          <a:p>
            <a:pPr algn="l" lvl="1">
              <a:spcAft>
                <a:spcPts val="1200"/>
              </a:spcAft>
            </a:pPr>
            <a:r>
              <a:rPr sz="1800" b="0">
                <a:solidFill>
                  <a:srgbClr val="0B0B0B"/>
                </a:solidFill>
                <a:latin typeface="Calibri"/>
              </a:rPr>
              <a:t>•  their LTB term rests on fixture assumptions,</a:t>
            </a:r>
          </a:p>
          <a:p>
            <a:pPr algn="l" lvl="1">
              <a:spcAft>
                <a:spcPts val="1200"/>
              </a:spcAft>
            </a:pPr>
            <a:r>
              <a:rPr sz="1800" b="0">
                <a:solidFill>
                  <a:srgbClr val="0B0B0B"/>
                </a:solidFill>
                <a:latin typeface="Calibri"/>
              </a:rPr>
              <a:t>•  the modes blur,</a:t>
            </a:r>
          </a:p>
          <a:p>
            <a:pPr algn="l" lvl="1">
              <a:spcAft>
                <a:spcPts val="1200"/>
              </a:spcAft>
            </a:pPr>
            <a:r>
              <a:rPr sz="1800" b="0">
                <a:solidFill>
                  <a:srgbClr val="0B0B0B"/>
                </a:solidFill>
                <a:latin typeface="Calibri"/>
              </a:rPr>
              <a:t>•  and we have only a few expensive tests.</a:t>
            </a:r>
          </a:p>
          <a:p>
            <a:pPr algn="l">
              <a:spcAft>
                <a:spcPts val="1200"/>
              </a:spcAft>
            </a:pPr>
            <a:r>
              <a:rPr sz="2000" b="0">
                <a:solidFill>
                  <a:srgbClr val="0B0B0B"/>
                </a:solidFill>
                <a:latin typeface="Calibri"/>
              </a:rPr>
              <a:t>A data-driven model that carries its own uncertainty is built for this. Next lecture: Gaussian Processes and Bayesian optimization.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The loop this module runs</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workflow_end2end.png"/>
          <p:cNvPicPr>
            <a:picLocks noChangeAspect="1"/>
          </p:cNvPicPr>
          <p:nvPr/>
        </p:nvPicPr>
        <p:blipFill>
          <a:blip r:embed="rId2"/>
          <a:stretch>
            <a:fillRect/>
          </a:stretch>
        </p:blipFill>
        <p:spPr>
          <a:xfrm>
            <a:off x="792327" y="1371600"/>
            <a:ext cx="10607040" cy="3650993"/>
          </a:xfrm>
          <a:prstGeom prst="rect">
            <a:avLst/>
          </a:prstGeom>
        </p:spPr>
      </p:pic>
      <p:sp>
        <p:nvSpPr>
          <p:cNvPr id="5" name="TextBox 4"/>
          <p:cNvSpPr txBox="1"/>
          <p:nvPr/>
        </p:nvSpPr>
        <p:spPr>
          <a:xfrm>
            <a:off x="822960" y="5095745"/>
            <a:ext cx="10607040" cy="548640"/>
          </a:xfrm>
          <a:prstGeom prst="rect">
            <a:avLst/>
          </a:prstGeom>
          <a:noFill/>
        </p:spPr>
        <p:txBody>
          <a:bodyPr wrap="square" anchor="t">
            <a:spAutoFit/>
          </a:bodyPr>
          <a:lstStyle/>
          <a:p>
            <a:pPr algn="ctr">
              <a:spcAft>
                <a:spcPts val="600"/>
              </a:spcAft>
            </a:pPr>
            <a:r>
              <a:rPr sz="1500" b="0">
                <a:solidFill>
                  <a:srgbClr val="0B0B0B"/>
                </a:solidFill>
                <a:latin typeface="Calibri"/>
              </a:rPr>
              <a:t>Physics says what should happen and where failure lives. The data model says what the tests support and where we're still uncertain. Your judgment decides what to build. The test says what we got wrong.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384048"/>
            <a:ext cx="10607040" cy="822960"/>
          </a:xfrm>
          <a:prstGeom prst="rect">
            <a:avLst/>
          </a:prstGeom>
          <a:noFill/>
        </p:spPr>
        <p:txBody>
          <a:bodyPr wrap="square" anchor="t">
            <a:spAutoFit/>
          </a:bodyPr>
          <a:lstStyle/>
          <a:p>
            <a:pPr algn="l">
              <a:spcAft>
                <a:spcPts val="600"/>
              </a:spcAft>
            </a:pPr>
            <a:r>
              <a:rPr sz="3000" b="1">
                <a:solidFill>
                  <a:srgbClr val="0B0B0B"/>
                </a:solidFill>
                <a:latin typeface="Calibri"/>
              </a:rPr>
              <a:t>Before next time: Pre-lab 1</a:t>
            </a:r>
          </a:p>
        </p:txBody>
      </p:sp>
      <p:sp>
        <p:nvSpPr>
          <p:cNvPr id="3" name="Rectangle 2"/>
          <p:cNvSpPr/>
          <p:nvPr/>
        </p:nvSpPr>
        <p:spPr>
          <a:xfrm>
            <a:off x="822960" y="1170432"/>
            <a:ext cx="146304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424160" cy="4754880"/>
          </a:xfrm>
          <a:prstGeom prst="rect">
            <a:avLst/>
          </a:prstGeom>
          <a:noFill/>
        </p:spPr>
        <p:txBody>
          <a:bodyPr wrap="square" anchor="t">
            <a:spAutoFit/>
          </a:bodyPr>
          <a:lstStyle/>
          <a:p>
            <a:pPr algn="l">
              <a:spcAft>
                <a:spcPts val="1200"/>
              </a:spcAft>
            </a:pPr>
            <a:r>
              <a:rPr sz="2000" b="0">
                <a:solidFill>
                  <a:srgbClr val="0B0B0B"/>
                </a:solidFill>
                <a:latin typeface="Calibri"/>
              </a:rPr>
              <a:t>In ME323_Module1_Prelab1_FailureModes:</a:t>
            </a:r>
          </a:p>
          <a:p>
            <a:pPr algn="l" lvl="1">
              <a:spcAft>
                <a:spcPts val="1200"/>
              </a:spcAft>
            </a:pPr>
            <a:r>
              <a:rPr sz="1800" b="0">
                <a:solidFill>
                  <a:srgbClr val="0B0B0B"/>
                </a:solidFill>
                <a:latin typeface="Calibri"/>
              </a:rPr>
              <a:t>•  reduce four raw force-displacement traces to strength — including deciding what beam 9's "twisted off the test stand" peak really measures,</a:t>
            </a:r>
          </a:p>
          <a:p>
            <a:pPr algn="l" lvl="1">
              <a:spcAft>
                <a:spcPts val="1200"/>
              </a:spcAft>
            </a:pPr>
            <a:r>
              <a:rPr sz="1800" b="0">
                <a:solidFill>
                  <a:srgbClr val="0B0B0B"/>
                </a:solidFill>
                <a:latin typeface="Calibri"/>
              </a:rPr>
              <a:t>•  load the beam data, compute strength-to-weight,</a:t>
            </a:r>
          </a:p>
          <a:p>
            <a:pPr algn="l" lvl="1">
              <a:spcAft>
                <a:spcPts val="1200"/>
              </a:spcAft>
            </a:pPr>
            <a:r>
              <a:rPr sz="1800" b="0">
                <a:solidFill>
                  <a:srgbClr val="0B0B0B"/>
                </a:solidFill>
                <a:latin typeface="Calibri"/>
              </a:rPr>
              <a:t>•  code flexural yield and the junction shear-flow separation check (start tau_i at the bulk guess 43.9 MPa),</a:t>
            </a:r>
          </a:p>
          <a:p>
            <a:pPr algn="l" lvl="1">
              <a:spcAft>
                <a:spcPts val="1200"/>
              </a:spcAft>
            </a:pPr>
            <a:r>
              <a:rPr sz="1800" b="0">
                <a:solidFill>
                  <a:srgbClr val="0B0B0B"/>
                </a:solidFill>
                <a:latin typeface="Calibri"/>
              </a:rPr>
              <a:t>•  compare dominant-mode proxies with measured strengths and failure notes, then calibrate (sigma_y, k, tau_i),</a:t>
            </a:r>
          </a:p>
          <a:p>
            <a:pPr algn="l" lvl="1">
              <a:spcAft>
                <a:spcPts val="1200"/>
              </a:spcAft>
            </a:pPr>
            <a:r>
              <a:rPr sz="1800" b="0">
                <a:solidFill>
                  <a:srgbClr val="0B0B0B"/>
                </a:solidFill>
                <a:latin typeface="Calibri"/>
              </a:rPr>
              <a:t>•  optimize strength-to-weight.</a:t>
            </a:r>
          </a:p>
          <a:p>
            <a:pPr algn="l">
              <a:spcAft>
                <a:spcPts val="1200"/>
              </a:spcAft>
            </a:pPr>
            <a:r>
              <a:rPr sz="2000" b="0">
                <a:solidFill>
                  <a:srgbClr val="0B0B0B"/>
                </a:solidFill>
                <a:latin typeface="Calibri"/>
              </a:rPr>
              <a:t>The design you find there becomes one of the class's two ground-truth queries later — the pre-lab explains how those queries work. Bring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