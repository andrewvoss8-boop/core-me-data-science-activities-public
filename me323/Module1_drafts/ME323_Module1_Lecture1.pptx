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3172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14600"/>
            <a:ext cx="105156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>
                <a:solidFill>
                  <a:srgbClr val="0B0B0B"/>
                </a:solidFill>
                <a:latin typeface="Calibri"/>
              </a:rPr>
              <a:t>Designing a Beam Under Messy Physics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3977639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2A78D6"/>
                </a:solidFill>
                <a:latin typeface="Calibri"/>
              </a:rPr>
              <a:t>ME 323 Module 1 — Lecture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70916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52514E"/>
                </a:solidFill>
                <a:latin typeface="Calibri"/>
              </a:rPr>
              <a:t>Pick a 3D-printed I-beam that carries the most load per gram.
The equations give you a start. They will not give you the answer.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The challenge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554480"/>
            <a:ext cx="10424160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lvl="1">
              <a:spcAft>
                <a:spcPts val="1200"/>
              </a:spcAft>
            </a:pPr>
            <a:r>
              <a:rPr sz="1900" b="0">
                <a:solidFill>
                  <a:srgbClr val="0B0B0B"/>
                </a:solidFill>
                <a:latin typeface="Calibri"/>
              </a:rPr>
              <a:t>•  Fixed: total height 18 mm, flange width 10 mm, test span 150 mm, printed length 172 mm, PLA.</a:t>
            </a:r>
          </a:p>
          <a:p>
            <a:pPr algn="l" lvl="1">
              <a:spcAft>
                <a:spcPts val="1200"/>
              </a:spcAft>
            </a:pPr>
            <a:r>
              <a:rPr sz="1900" b="0">
                <a:solidFill>
                  <a:srgbClr val="0B0B0B"/>
                </a:solidFill>
                <a:latin typeface="Calibri"/>
              </a:rPr>
              <a:t>•  You choose: web thickness b and web height H_web (which sets flange thickness).</a:t>
            </a:r>
          </a:p>
          <a:p>
            <a:pPr algn="l" lvl="1">
              <a:spcAft>
                <a:spcPts val="1200"/>
              </a:spcAft>
            </a:pPr>
            <a:r>
              <a:rPr sz="1900" b="0">
                <a:solidFill>
                  <a:srgbClr val="0B0B0B"/>
                </a:solidFill>
                <a:latin typeface="Calibri"/>
              </a:rPr>
              <a:t>•  Goal: maximize strength-to-weight.</a:t>
            </a:r>
          </a:p>
          <a:p>
            <a:pPr algn="l" lvl="1">
              <a:spcAft>
                <a:spcPts val="1200"/>
              </a:spcAft>
            </a:pPr>
            <a:r>
              <a:rPr sz="1900" b="0">
                <a:solidFill>
                  <a:srgbClr val="0B0B0B"/>
                </a:solidFill>
                <a:latin typeface="Calibri"/>
              </a:rPr>
              <a:t>•  Constraint you can't dodge: each print-and-test is slow and expensive, so you get very few.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The challenge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is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92727" y="1371600"/>
            <a:ext cx="4206240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Why this is hard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554480"/>
            <a:ext cx="10424160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2000" b="0">
                <a:solidFill>
                  <a:srgbClr val="0B0B0B"/>
                </a:solidFill>
                <a:latin typeface="Calibri"/>
              </a:rPr>
              <a:t>Three things stand between you and a clean optimization:</a:t>
            </a:r>
          </a:p>
          <a:p>
            <a:pPr algn="l" lvl="1"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  <a:latin typeface="Calibri"/>
              </a:rPr>
              <a:t>•  Printed beams can fracture along the layer lines: the flange peels off the web at a printed interface whose strength appears in no handbook.</a:t>
            </a:r>
          </a:p>
          <a:p>
            <a:pPr algn="l" lvl="1"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  <a:latin typeface="Calibri"/>
              </a:rPr>
              <a:t>•  Lateral-torsional buckling depends on the fixture, not just the beam.</a:t>
            </a:r>
          </a:p>
          <a:p>
            <a:pPr algn="l" lvl="1"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  <a:latin typeface="Calibri"/>
              </a:rPr>
              <a:t>•  The failure modes overlap. Real beams fail in mixed, progressive ways.</a:t>
            </a:r>
          </a:p>
          <a:p>
            <a:pPr algn="l">
              <a:spcAft>
                <a:spcPts val="1200"/>
              </a:spcAft>
            </a:pPr>
            <a:r>
              <a:rPr sz="2000" b="0">
                <a:solidFill>
                  <a:srgbClr val="0B0B0B"/>
                </a:solidFill>
                <a:latin typeface="Calibri"/>
              </a:rPr>
              <a:t>We will price the layer-line mode with one calibrated number — but that number drifts with print session and support condition, and the other two problems remain. The equations narrow the problem. They do not solve it.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Three modeled capacity branches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554480"/>
            <a:ext cx="10424160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lvl="1">
              <a:spcAft>
                <a:spcPts val="1200"/>
              </a:spcAft>
            </a:pPr>
            <a:r>
              <a:rPr sz="1900" b="0">
                <a:solidFill>
                  <a:srgbClr val="0B0B0B"/>
                </a:solidFill>
                <a:latin typeface="Calibri"/>
              </a:rPr>
              <a:t>•  Bending: the beam yields in flexure.</a:t>
            </a:r>
          </a:p>
          <a:p>
            <a:pPr algn="l" lvl="1">
              <a:spcAft>
                <a:spcPts val="1200"/>
              </a:spcAft>
            </a:pPr>
            <a:r>
              <a:rPr sz="1900" b="0">
                <a:solidFill>
                  <a:srgbClr val="0B0B0B"/>
                </a:solidFill>
                <a:latin typeface="Calibri"/>
              </a:rPr>
              <a:t>•  Flange-web separation: the shear flow at the printed junction exceeds the layer-line bond strength.</a:t>
            </a:r>
          </a:p>
          <a:p>
            <a:pPr algn="l" lvl="1">
              <a:spcAft>
                <a:spcPts val="1200"/>
              </a:spcAft>
            </a:pPr>
            <a:r>
              <a:rPr sz="1900" b="0">
                <a:solidFill>
                  <a:srgbClr val="0B0B0B"/>
                </a:solidFill>
                <a:latin typeface="Calibri"/>
              </a:rPr>
              <a:t>•  Lateral-torsional buckling (LTB): the beam tips over sideways.</a:t>
            </a:r>
          </a:p>
          <a:p>
            <a:pPr algn="l">
              <a:spcAft>
                <a:spcPts val="1200"/>
              </a:spcAft>
            </a:pPr>
            <a:r>
              <a:rPr sz="2100" b="0">
                <a:solidFill>
                  <a:srgbClr val="0B0B0B"/>
                </a:solidFill>
                <a:latin typeface="Calibri"/>
              </a:rPr>
              <a:t>The class capacity is the plain minimum of the three. The dominant-mode label is a model proxy, not proof of the observed fracture.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Bending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29523" y="1371600"/>
            <a:ext cx="3932648" cy="777240"/>
          </a:xfrm>
          <a:prstGeom prst="rect">
            <a:avLst/>
          </a:prstGeom>
        </p:spPr>
      </p:pic>
      <p:pic>
        <p:nvPicPr>
          <p:cNvPr id="5" name="Picture 4" descr="fig_bending_stre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90254" y="2286000"/>
            <a:ext cx="6011186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Why I-beams 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x_integ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9433" y="2011680"/>
            <a:ext cx="4612829" cy="15544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97280" y="4023360"/>
            <a:ext cx="100584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1000"/>
              </a:spcAft>
            </a:pPr>
            <a:r>
              <a:rPr sz="1900" b="0">
                <a:solidFill>
                  <a:srgbClr val="0B0B0B"/>
                </a:solidFill>
                <a:latin typeface="Calibri"/>
              </a:rPr>
              <a:t>Bending strength is carried by I_x, and I_x counts each bit of area by the square of its distance from the neutral axis.</a:t>
            </a:r>
          </a:p>
          <a:p>
            <a:pPr algn="ctr">
              <a:spcAft>
                <a:spcPts val="1000"/>
              </a:spcAft>
            </a:pPr>
            <a:r>
              <a:rPr sz="1900" b="0">
                <a:solidFill>
                  <a:srgbClr val="0B0B0B"/>
                </a:solidFill>
                <a:latin typeface="Calibri"/>
              </a:rPr>
              <a:t>Material at the edges earns its mass; material near the center barely helps.</a:t>
            </a:r>
          </a:p>
          <a:p>
            <a:pPr algn="ctr">
              <a:spcAft>
                <a:spcPts val="1000"/>
              </a:spcAft>
            </a:pPr>
            <a:r>
              <a:rPr sz="1900" b="0">
                <a:solidFill>
                  <a:srgbClr val="0B0B0B"/>
                </a:solidFill>
                <a:latin typeface="Calibri"/>
              </a:rPr>
              <a:t>So put the mass in flanges far out, top and bottom. The web holds them apart (sets the lever arm) and carries the shear.</a:t>
            </a:r>
          </a:p>
          <a:p>
            <a:pPr algn="ctr">
              <a:spcAft>
                <a:spcPts val="1000"/>
              </a:spcAft>
            </a:pPr>
            <a:r>
              <a:rPr sz="1900" b="0">
                <a:solidFill>
                  <a:srgbClr val="0B0B0B"/>
                </a:solidFill>
                <a:latin typeface="Calibri"/>
              </a:rPr>
              <a:t>Maximize I_x per gram: that is the strength-to-weight game this module plays.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Same mass, more stiffness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why_ibea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2447" y="1371600"/>
            <a:ext cx="8686800" cy="4343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788152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Three sections of equal area. Relocating the same material to the flanges multiplies I_x.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45352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50" b="0">
                <a:solidFill>
                  <a:srgbClr val="52514E"/>
                </a:solidFill>
                <a:latin typeface="Calibri"/>
              </a:rPr>
              <a:t>Even against a solid bar of the same height, the I-beam wins: its mass sits at the extreme fibers.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The catch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554480"/>
            <a:ext cx="10424160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2100" b="0">
                <a:solidFill>
                  <a:srgbClr val="0B0B0B"/>
                </a:solidFill>
                <a:latin typeface="Calibri"/>
              </a:rPr>
              <a:t>The I-beam logic says: thinner web, taller section, mass pushed outward.</a:t>
            </a:r>
          </a:p>
          <a:p>
            <a:pPr algn="l">
              <a:spcAft>
                <a:spcPts val="1200"/>
              </a:spcAft>
            </a:pPr>
            <a:r>
              <a:rPr sz="2100" b="0">
                <a:solidFill>
                  <a:srgbClr val="0B0B0B"/>
                </a:solidFill>
                <a:latin typeface="Calibri"/>
              </a:rPr>
              <a:t>Push too far and you wake the other two modes:</a:t>
            </a:r>
          </a:p>
          <a:p>
            <a:pPr algn="l" lvl="1">
              <a:spcAft>
                <a:spcPts val="1200"/>
              </a:spcAft>
            </a:pPr>
            <a:r>
              <a:rPr sz="1900" b="0">
                <a:solidFill>
                  <a:srgbClr val="0B0B0B"/>
                </a:solidFill>
                <a:latin typeface="Calibri"/>
              </a:rPr>
              <a:t>•  a flange-web junction too thin to carry the shear flow — the printed layer-line bond lets go,</a:t>
            </a:r>
          </a:p>
          <a:p>
            <a:pPr algn="l" lvl="1">
              <a:spcAft>
                <a:spcPts val="1200"/>
              </a:spcAft>
            </a:pPr>
            <a:r>
              <a:rPr sz="1900" b="0">
                <a:solidFill>
                  <a:srgbClr val="0B0B0B"/>
                </a:solidFill>
                <a:latin typeface="Calibri"/>
              </a:rPr>
              <a:t>•  a section too tall and narrow, which tips over (LTB) before it ever yields.</a:t>
            </a:r>
          </a:p>
          <a:p>
            <a:pPr algn="l">
              <a:spcAft>
                <a:spcPts val="1200"/>
              </a:spcAft>
            </a:pPr>
            <a:r>
              <a:rPr sz="2100" b="0">
                <a:solidFill>
                  <a:srgbClr val="0B0B0B"/>
                </a:solidFill>
                <a:latin typeface="Calibri"/>
              </a:rPr>
              <a:t>The efficient shape and the failure modes pull against each other. That tension is the design problem.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Flange-web separation: shear flow at the printed junction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ep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6887" y="1371600"/>
            <a:ext cx="6217920" cy="777240"/>
          </a:xfrm>
          <a:prstGeom prst="rect">
            <a:avLst/>
          </a:prstGeom>
        </p:spPr>
      </p:pic>
      <p:pic>
        <p:nvPicPr>
          <p:cNvPr id="5" name="Picture 4" descr="fig_shear_we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76501" y="2286000"/>
            <a:ext cx="5438692" cy="34747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833872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Every observed shear-type failure is a flange peeling off the web. The stress on that plane is the classic built-up-beam shear flow (V = P/2).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What the separation check assumes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554480"/>
            <a:ext cx="10424160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2200" b="0">
                <a:solidFill>
                  <a:srgbClr val="0B0B0B"/>
                </a:solidFill>
                <a:latin typeface="Calibri"/>
              </a:rPr>
              <a:t>The stress measure is textbook mechanics — the same glue-line check used for any built-up member.</a:t>
            </a:r>
          </a:p>
          <a:p>
            <a:pPr algn="l">
              <a:spcAft>
                <a:spcPts val="1200"/>
              </a:spcAft>
            </a:pPr>
            <a:r>
              <a:rPr sz="2200" b="0">
                <a:solidFill>
                  <a:srgbClr val="0B0B0B"/>
                </a:solidFill>
                <a:latin typeface="Calibri"/>
              </a:rPr>
              <a:t>The strength side is not: tau_i is the bond strength along the printed layer lines, weaker than the bulk plastic, listed in no handbook.</a:t>
            </a:r>
          </a:p>
          <a:p>
            <a:pPr algn="l">
              <a:spcAft>
                <a:spcPts val="1200"/>
              </a:spcAft>
            </a:pPr>
            <a:r>
              <a:rPr sz="2200" b="0">
                <a:solidFill>
                  <a:srgbClr val="0B0B0B"/>
                </a:solidFill>
                <a:latin typeface="Calibri"/>
              </a:rPr>
              <a:t>Pre-lab 1 starts it at the bulk guess sigma_y/sqrt(3) = 43.9 MPa and calibrates it from the data — it lands near 18 MPa, and it drifts with print session and support condition.</a:t>
            </a:r>
          </a:p>
          <a:p>
            <a:pPr algn="l">
              <a:spcAft>
                <a:spcPts val="1200"/>
              </a:spcAft>
            </a:pPr>
            <a:r>
              <a:rPr sz="2200" b="0">
                <a:solidFill>
                  <a:srgbClr val="0B0B0B"/>
                </a:solidFill>
                <a:latin typeface="Calibri"/>
              </a:rPr>
              <a:t>The check predicts a capacity trend on one candidate plane. It is a dominant-mode proxy, not a fracture diagnosis.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Fracture vs yield, on the test machine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brittle_tra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6664" y="1371600"/>
            <a:ext cx="6798365" cy="4343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788152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Same fixture, same material. Thin webs shed the load in one drop; thicker webs plateau.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45352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50" b="0">
                <a:solidFill>
                  <a:srgbClr val="52514E"/>
                </a:solidFill>
                <a:latin typeface="Calibri"/>
              </a:rPr>
              <a:t>No equation on the previous slides distinguishes these two endings.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Lateral-torsional buckling: the idea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t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7953" y="2011680"/>
            <a:ext cx="5975789" cy="15544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97280" y="4023360"/>
            <a:ext cx="100584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1000"/>
              </a:spcAft>
            </a:pPr>
            <a:r>
              <a:rPr sz="1900" b="0">
                <a:solidFill>
                  <a:srgbClr val="0B0B0B"/>
                </a:solidFill>
                <a:latin typeface="Calibri"/>
              </a:rPr>
              <a:t>A tall, thin-flanged beam does not yield in place. It rolls sideways and twists at a load below its bending strength — a stability failure, not a strength one.</a:t>
            </a:r>
          </a:p>
          <a:p>
            <a:pPr algn="ctr">
              <a:spcAft>
                <a:spcPts val="1000"/>
              </a:spcAft>
            </a:pPr>
            <a:r>
              <a:rPr sz="1900" b="0">
                <a:solidFill>
                  <a:srgbClr val="0B0B0B"/>
                </a:solidFill>
                <a:latin typeface="Calibri"/>
              </a:rPr>
              <a:t>The elastic critical moment, in the Eurocode C1/C2 closed form (Timoshenko elastic-stability theory).</a:t>
            </a:r>
          </a:p>
          <a:p>
            <a:pPr algn="ctr">
              <a:spcAft>
                <a:spcPts val="1000"/>
              </a:spcAft>
            </a:pPr>
            <a:r>
              <a:rPr sz="1900" b="0">
                <a:solidFill>
                  <a:srgbClr val="0B0B0B"/>
                </a:solidFill>
                <a:latin typeface="Calibri"/>
              </a:rPr>
              <a:t>The next four slides open up every symbol, because LTB decides your optimum and rests on the most assumptions.</a:t>
            </a:r>
          </a:p>
          <a:p>
            <a:pPr algn="ctr">
              <a:spcAft>
                <a:spcPts val="1000"/>
              </a:spcAft>
            </a:pPr>
            <a:r>
              <a:rPr sz="1900" b="0">
                <a:solidFill>
                  <a:srgbClr val="0B0B0B"/>
                </a:solidFill>
                <a:latin typeface="Calibri"/>
              </a:rPr>
              <a:t>You will not re-derive any of it: P_LTB arrives pre-coded in Pre-lab 1. The goal is to read that code knowing what each symbol assumes.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The critical moment, term by term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tb_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0334" y="2011680"/>
            <a:ext cx="6191025" cy="15544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97280" y="4023360"/>
            <a:ext cx="100584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1000"/>
              </a:spcAft>
            </a:pPr>
            <a:r>
              <a:rPr sz="1900" b="0">
                <a:solidFill>
                  <a:srgbClr val="0B0B0B"/>
                </a:solidFill>
                <a:latin typeface="Calibri"/>
              </a:rPr>
              <a:t>Under the root, three effects trade against each other:</a:t>
            </a:r>
          </a:p>
          <a:p>
            <a:pPr algn="ctr">
              <a:spcAft>
                <a:spcPts val="1000"/>
              </a:spcAft>
            </a:pPr>
            <a:r>
              <a:rPr sz="1900" b="0">
                <a:solidFill>
                  <a:srgbClr val="0B0B0B"/>
                </a:solidFill>
                <a:latin typeface="Calibri"/>
              </a:rPr>
              <a:t>C_w / I_y  —  warping rigidity: the flanges resisting counter-bending.</a:t>
            </a:r>
          </a:p>
          <a:p>
            <a:pPr algn="ctr">
              <a:spcAft>
                <a:spcPts val="1000"/>
              </a:spcAft>
            </a:pPr>
            <a:r>
              <a:rPr sz="1900" b="0">
                <a:solidFill>
                  <a:srgbClr val="0B0B0B"/>
                </a:solidFill>
                <a:latin typeface="Calibri"/>
              </a:rPr>
              <a:t>L_b^2 GJ / (pi^2 E I_y)  —  St. Venant torsion: the open section's twisting stiffness.</a:t>
            </a:r>
          </a:p>
          <a:p>
            <a:pPr algn="ctr">
              <a:spcAft>
                <a:spcPts val="1000"/>
              </a:spcAft>
            </a:pPr>
            <a:r>
              <a:rPr sz="1900" b="0">
                <a:solidFill>
                  <a:srgbClr val="0B0B0B"/>
                </a:solidFill>
                <a:latin typeface="Calibri"/>
              </a:rPr>
              <a:t>(C_2 z_g)^2  —  load height: loading the top flange is destabilizing, so it subtracts.</a:t>
            </a:r>
          </a:p>
          <a:p>
            <a:pPr algn="ctr">
              <a:spcAft>
                <a:spcPts val="1000"/>
              </a:spcAft>
            </a:pPr>
            <a:r>
              <a:rPr sz="1900" b="0">
                <a:solidFill>
                  <a:srgbClr val="0B0B0B"/>
                </a:solidFill>
                <a:latin typeface="Calibri"/>
              </a:rPr>
              <a:t>C_1 = 1.35 (central point load),  C_2 = 0.55 (load-height factor).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From critical moment to a load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tb_c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2447" y="2011680"/>
            <a:ext cx="8686800" cy="141192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97280" y="3880801"/>
            <a:ext cx="100584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1000"/>
              </a:spcAft>
            </a:pPr>
            <a:r>
              <a:rPr sz="1900" b="0">
                <a:solidFill>
                  <a:srgbClr val="0B0B0B"/>
                </a:solidFill>
                <a:latin typeface="Calibri"/>
              </a:rPr>
              <a:t>The beam cannot exceed its yield moment, so LTB is capped at yield:</a:t>
            </a:r>
          </a:p>
          <a:p>
            <a:pPr algn="ctr">
              <a:spcAft>
                <a:spcPts val="1000"/>
              </a:spcAft>
            </a:pPr>
            <a:r>
              <a:rPr sz="1900" b="0">
                <a:solidFill>
                  <a:srgbClr val="0B0B0B"/>
                </a:solidFill>
                <a:latin typeface="Calibri"/>
              </a:rPr>
              <a:t>take the smaller of the elastic buckling moment and the yield moment,</a:t>
            </a:r>
          </a:p>
          <a:p>
            <a:pPr algn="ctr">
              <a:spcAft>
                <a:spcPts val="1000"/>
              </a:spcAft>
            </a:pPr>
            <a:r>
              <a:rPr sz="1900" b="0">
                <a:solidFill>
                  <a:srgbClr val="0B0B0B"/>
                </a:solidFill>
                <a:latin typeface="Calibri"/>
              </a:rPr>
              <a:t>convert moment to load with M_max = PL/4, so P = 4M / L,</a:t>
            </a:r>
          </a:p>
          <a:p>
            <a:pPr algn="ctr">
              <a:spcAft>
                <a:spcPts val="1000"/>
              </a:spcAft>
            </a:pPr>
            <a:r>
              <a:rPr sz="1900" b="0">
                <a:solidFill>
                  <a:srgbClr val="0B0B0B"/>
                </a:solidFill>
                <a:latin typeface="Calibri"/>
              </a:rPr>
              <a:t>with L_b = kL and z_g = c = TH/2 (load at the top surface).</a:t>
            </a:r>
          </a:p>
          <a:p>
            <a:pPr algn="ctr">
              <a:spcAft>
                <a:spcPts val="1000"/>
              </a:spcAft>
            </a:pPr>
            <a:r>
              <a:rPr sz="1900" b="0">
                <a:solidFill>
                  <a:srgbClr val="0B0B0B"/>
                </a:solidFill>
                <a:latin typeface="Calibri"/>
              </a:rPr>
              <a:t>The min is a crude nod to inelastic buckling.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What feeds it: the section constants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ec_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1818" y="1417320"/>
            <a:ext cx="6888058" cy="2651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4297680"/>
            <a:ext cx="1097280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lvl="1">
              <a:spcAft>
                <a:spcPts val="8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•  I_y: weak-axis stiffness — small for narrow flanges, which is why tall thin beams tip.</a:t>
            </a:r>
          </a:p>
          <a:p>
            <a:pPr algn="l" lvl="1">
              <a:spcAft>
                <a:spcPts val="8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•  J: St. Venant torsion, summed over web and flanges as thin rectangles.</a:t>
            </a:r>
          </a:p>
          <a:p>
            <a:pPr algn="l" lvl="1">
              <a:spcAft>
                <a:spcPts val="8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•  C_w: warping constant, the flanges' resistance to counter-bending.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0B0B0B"/>
                </a:solidFill>
                <a:latin typeface="Calibri"/>
              </a:rPr>
              <a:t>All three come from section_props in Pre-lab 1.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The assumptions underneath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554480"/>
            <a:ext cx="10424160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  <a:latin typeface="Calibri"/>
              </a:rPr>
              <a:t>The formula is exact only for an idealized beam. Ours is not quite that beam.</a:t>
            </a:r>
          </a:p>
          <a:p>
            <a:pPr algn="l" lvl="1">
              <a:spcAft>
                <a:spcPts val="1200"/>
              </a:spcAft>
            </a:pPr>
            <a:r>
              <a:rPr sz="1600" b="0">
                <a:solidFill>
                  <a:srgbClr val="0B0B0B"/>
                </a:solidFill>
                <a:latin typeface="Calibri"/>
              </a:rPr>
              <a:t>•  Thin-walled open section: J and C_w use thin-rectangle theory. Webs up to 7 mm against a 10 mm flange stretch 'thin'; J drifts.</a:t>
            </a:r>
          </a:p>
          <a:p>
            <a:pPr algn="l" lvl="1">
              <a:spcAft>
                <a:spcPts val="1200"/>
              </a:spcAft>
            </a:pPr>
            <a:r>
              <a:rPr sz="1600" b="0">
                <a:solidFill>
                  <a:srgbClr val="0B0B0B"/>
                </a:solidFill>
                <a:latin typeface="Calibri"/>
              </a:rPr>
              <a:t>•  Timoshenko elastic stability: M_cr assumes linear-elastic, perfectly straight, no residual stress. A print has all three imperfections.</a:t>
            </a:r>
          </a:p>
          <a:p>
            <a:pPr algn="l" lvl="1">
              <a:spcAft>
                <a:spcPts val="1200"/>
              </a:spcAft>
            </a:pPr>
            <a:r>
              <a:rPr sz="1600" b="0">
                <a:solidFill>
                  <a:srgbClr val="0B0B0B"/>
                </a:solidFill>
                <a:latin typeface="Calibri"/>
              </a:rPr>
              <a:t>•  Warping torsion: the C_w term assumes ends free to warp. The real fixture restrains them — which is what k absorbs.</a:t>
            </a:r>
          </a:p>
          <a:p>
            <a:pPr algn="l" lvl="1">
              <a:spcAft>
                <a:spcPts val="1200"/>
              </a:spcAft>
            </a:pPr>
            <a:r>
              <a:rPr sz="1600" b="0">
                <a:solidFill>
                  <a:srgbClr val="0B0B0B"/>
                </a:solidFill>
                <a:latin typeface="Calibri"/>
              </a:rPr>
              <a:t>•  Elastic, isotropic material: E = 2.5 GPa, G = E/2.6 (nu = 0.3). Printed PLA is layered and anisotropic.</a:t>
            </a:r>
          </a:p>
          <a:p>
            <a:pPr algn="l"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  <a:latin typeface="Calibri"/>
              </a:rPr>
              <a:t>Each gap is a reason the equation narrows the answer without settling it.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The one number that rules LTB: k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k_sca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0423" y="2011680"/>
            <a:ext cx="8430847" cy="15544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97280" y="4023360"/>
            <a:ext cx="100584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1000"/>
              </a:spcAft>
            </a:pPr>
            <a:r>
              <a:rPr sz="1900" b="0">
                <a:solidFill>
                  <a:srgbClr val="0B0B0B"/>
                </a:solidFill>
                <a:latin typeface="Calibri"/>
              </a:rPr>
              <a:t>k is the effective-length factor: how far the beam twists and bends sideways between whatever restrains it.</a:t>
            </a:r>
          </a:p>
          <a:p>
            <a:pPr algn="ctr">
              <a:spcAft>
                <a:spcPts val="1000"/>
              </a:spcAft>
            </a:pPr>
            <a:r>
              <a:rPr sz="1900" b="0">
                <a:solidFill>
                  <a:srgbClr val="0B0B0B"/>
                </a:solidFill>
                <a:latin typeface="Calibri"/>
              </a:rPr>
              <a:t>Set by the fixture — how the ends grip, whether they warp, where load lands — not by the beam.</a:t>
            </a:r>
          </a:p>
          <a:p>
            <a:pPr algn="ctr">
              <a:spcAft>
                <a:spcPts val="1000"/>
              </a:spcAft>
            </a:pPr>
            <a:r>
              <a:rPr sz="1900" b="0">
                <a:solidFill>
                  <a:srgbClr val="0B0B0B"/>
                </a:solidFill>
                <a:latin typeface="Calibri"/>
              </a:rPr>
              <a:t>Textbook k = 1 is a simply-supported fork end free to warp; stiffer restraint drops k below 1.</a:t>
            </a:r>
          </a:p>
          <a:p>
            <a:pPr algn="ctr">
              <a:spcAft>
                <a:spcPts val="1000"/>
              </a:spcAft>
            </a:pPr>
            <a:r>
              <a:rPr sz="1900" b="0">
                <a:solidFill>
                  <a:srgbClr val="0B0B0B"/>
                </a:solidFill>
                <a:latin typeface="Calibri"/>
              </a:rPr>
              <a:t>Handbook starting value k = 0.33. Calibration on the class subset gives k = 0.377, which sets the equation design.</a:t>
            </a:r>
          </a:p>
          <a:p>
            <a:pPr algn="ctr">
              <a:spcAft>
                <a:spcPts val="1000"/>
              </a:spcAft>
            </a:pPr>
            <a:r>
              <a:rPr sz="1900" b="0">
                <a:solidFill>
                  <a:srgbClr val="0B0B0B"/>
                </a:solidFill>
                <a:latin typeface="Calibri"/>
              </a:rPr>
              <a:t>Since M_cr ~ 1/k^2, a small change swings LTB hard — and the calibrated equation optimum sits on a bend-LTB knife edge (capacities within ~1%). k does not transfer between fixtures: confirm it on ours before betting on that optimum.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Which mode drives?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failure_mode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8878" y="1371600"/>
            <a:ext cx="6013938" cy="4343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788152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Tall thin webs tip (LTB). Short thin webs are separation-limited: junction shear flow beats the layer-line bond. The middle bends.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Does the theory match the data?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554480"/>
            <a:ext cx="10424160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2000" b="0">
                <a:solidFill>
                  <a:srgbClr val="0B0B0B"/>
                </a:solidFill>
                <a:latin typeface="Calibri"/>
              </a:rPr>
              <a:t>Pre-lab 1 answers this with your beam dataset: compute each beam's predicted capacity and mode, then plot predictions against measurements.</a:t>
            </a:r>
          </a:p>
          <a:p>
            <a:pPr algn="l">
              <a:spcAft>
                <a:spcPts val="1200"/>
              </a:spcAft>
            </a:pPr>
            <a:r>
              <a:rPr sz="2000" b="0">
                <a:solidFill>
                  <a:srgbClr val="0B0B0B"/>
                </a:solidFill>
                <a:latin typeface="Calibri"/>
              </a:rPr>
              <a:t>Watch for two things:</a:t>
            </a:r>
          </a:p>
          <a:p>
            <a:pPr algn="l" lvl="1"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  <a:latin typeface="Calibri"/>
              </a:rPr>
              <a:t>•  Points below the line: beams that broke before the equations said they would.</a:t>
            </a:r>
          </a:p>
          <a:p>
            <a:pPr algn="l" lvl="1"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  <a:latin typeface="Calibri"/>
              </a:rPr>
              <a:t>•  Beams whose recorded failure looks nothing like the predicted mode.</a:t>
            </a:r>
          </a:p>
          <a:p>
            <a:pPr algn="l">
              <a:spcAft>
                <a:spcPts val="1200"/>
              </a:spcAft>
            </a:pPr>
            <a:r>
              <a:rPr sz="2000" b="0">
                <a:solidFill>
                  <a:srgbClr val="0B0B0B"/>
                </a:solidFill>
                <a:latin typeface="Calibri"/>
              </a:rPr>
              <a:t>[Placeholder: parity plot from the 44-beam dataset once strength_N lands.]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One assumption, two different beams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two_opti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327" y="1371600"/>
            <a:ext cx="10607040" cy="4242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687568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Illustration: handbook starting values versus the class calibration (66.8 MPa, k = 0.377, tau_i = 17.9 MPa), which moves the equation optimum to (1.25, 13.20).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Where this leaves us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554480"/>
            <a:ext cx="10424160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2000" b="0">
                <a:solidFill>
                  <a:srgbClr val="0B0B0B"/>
                </a:solidFill>
                <a:latin typeface="Calibri"/>
              </a:rPr>
              <a:t>The equations are useful but partial:</a:t>
            </a:r>
          </a:p>
          <a:p>
            <a:pPr algn="l" lvl="1"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  <a:latin typeface="Calibri"/>
              </a:rPr>
              <a:t>•  they cannot tell a yield plateau from a one-drop fracture,</a:t>
            </a:r>
          </a:p>
          <a:p>
            <a:pPr algn="l" lvl="1"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  <a:latin typeface="Calibri"/>
              </a:rPr>
              <a:t>•  their LTB term rests on fixture assumptions,</a:t>
            </a:r>
          </a:p>
          <a:p>
            <a:pPr algn="l" lvl="1"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  <a:latin typeface="Calibri"/>
              </a:rPr>
              <a:t>•  the modes blur,</a:t>
            </a:r>
          </a:p>
          <a:p>
            <a:pPr algn="l" lvl="1"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  <a:latin typeface="Calibri"/>
              </a:rPr>
              <a:t>•  and we have only a few expensive tests.</a:t>
            </a:r>
          </a:p>
          <a:p>
            <a:pPr algn="l">
              <a:spcAft>
                <a:spcPts val="1200"/>
              </a:spcAft>
            </a:pPr>
            <a:r>
              <a:rPr sz="2000" b="0">
                <a:solidFill>
                  <a:srgbClr val="0B0B0B"/>
                </a:solidFill>
                <a:latin typeface="Calibri"/>
              </a:rPr>
              <a:t>A data-driven model that carries its own uncertainty is built for this. Next lecture: Gaussian Processes and Bayesian optimization.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Before next time: Pre-lab 1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554480"/>
            <a:ext cx="10424160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2000" b="0">
                <a:solidFill>
                  <a:srgbClr val="0B0B0B"/>
                </a:solidFill>
                <a:latin typeface="Calibri"/>
              </a:rPr>
              <a:t>In ME323_Module1_Prelab1_FailureModes:</a:t>
            </a:r>
          </a:p>
          <a:p>
            <a:pPr algn="l" lvl="1"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  <a:latin typeface="Calibri"/>
              </a:rPr>
              <a:t>•  load the beam data, compute strength-to-weight,</a:t>
            </a:r>
          </a:p>
          <a:p>
            <a:pPr algn="l" lvl="1"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  <a:latin typeface="Calibri"/>
              </a:rPr>
              <a:t>•  code flexural yield and the junction shear-flow separation check (start tau_i at the bulk guess 43.9 MPa),</a:t>
            </a:r>
          </a:p>
          <a:p>
            <a:pPr algn="l" lvl="1"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  <a:latin typeface="Calibri"/>
              </a:rPr>
              <a:t>•  compare dominant-mode proxies with measured strengths and failure notes, then calibrate (sigma_y, k, tau_i),</a:t>
            </a:r>
          </a:p>
          <a:p>
            <a:pPr algn="l" lvl="1"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  <a:latin typeface="Calibri"/>
              </a:rPr>
              <a:t>•  optimize strength-to-weight.</a:t>
            </a:r>
          </a:p>
          <a:p>
            <a:pPr algn="l">
              <a:spcAft>
                <a:spcPts val="1200"/>
              </a:spcAft>
            </a:pPr>
            <a:r>
              <a:rPr sz="2000" b="0">
                <a:solidFill>
                  <a:srgbClr val="0B0B0B"/>
                </a:solidFill>
                <a:latin typeface="Calibri"/>
              </a:rPr>
              <a:t>The design you find there becomes one of the class's two ground-truth queries later — the pre-lab explains how those queries work. Bring questions.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