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34c0b832c584dbd" /><Relationship Type="http://schemas.openxmlformats.org/officeDocument/2006/relationships/extended-properties" Target="/docProps/app.xml" Id="Rf71bedfe91fa42c3" /><Relationship Type="http://schemas.openxmlformats.org/officeDocument/2006/relationships/officeDocument" Target="/ppt/presentation.xml" Id="R427878cb8ae44e6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558d1b7f2204235"/>
  </p:sldMasterIdLst>
  <p:notesMasterIdLst>
    <p:notesMasterId xmlns:r="http://schemas.openxmlformats.org/officeDocument/2006/relationships" r:id="Rdc119e09322f415e"/>
  </p:notesMasterIdLst>
  <p:sldIdLst>
    <p:sldId xmlns:r="http://schemas.openxmlformats.org/officeDocument/2006/relationships" id="256" r:id="R1be9fd1baaed4ebe"/>
    <p:sldId xmlns:r="http://schemas.openxmlformats.org/officeDocument/2006/relationships" id="257" r:id="Rb4dcd6db4cbc4c09"/>
    <p:sldId xmlns:r="http://schemas.openxmlformats.org/officeDocument/2006/relationships" id="258" r:id="R4e40db20d33f4dd0"/>
    <p:sldId xmlns:r="http://schemas.openxmlformats.org/officeDocument/2006/relationships" id="259" r:id="Rd5c15c7b71404b78"/>
    <p:sldId xmlns:r="http://schemas.openxmlformats.org/officeDocument/2006/relationships" id="260" r:id="R6b4a7196dc38456b"/>
    <p:sldId xmlns:r="http://schemas.openxmlformats.org/officeDocument/2006/relationships" id="261" r:id="Rf1921b77abc0461d"/>
    <p:sldId xmlns:r="http://schemas.openxmlformats.org/officeDocument/2006/relationships" id="262" r:id="R5d6c91e1aacf4884"/>
    <p:sldId xmlns:r="http://schemas.openxmlformats.org/officeDocument/2006/relationships" id="263" r:id="Re52fb16766844a46"/>
    <p:sldId xmlns:r="http://schemas.openxmlformats.org/officeDocument/2006/relationships" id="264" r:id="R5e102d03db684f63"/>
    <p:sldId xmlns:r="http://schemas.openxmlformats.org/officeDocument/2006/relationships" id="265" r:id="Rcf28f6ec82d94281"/>
    <p:sldId xmlns:r="http://schemas.openxmlformats.org/officeDocument/2006/relationships" id="266" r:id="R6c0cf6b372bc4301"/>
    <p:sldId xmlns:r="http://schemas.openxmlformats.org/officeDocument/2006/relationships" id="267" r:id="Re83b5ec88ef24bb3"/>
    <p:sldId xmlns:r="http://schemas.openxmlformats.org/officeDocument/2006/relationships" id="268" r:id="R1c22c06d90ef4f65"/>
    <p:sldId xmlns:r="http://schemas.openxmlformats.org/officeDocument/2006/relationships" id="269" r:id="R332cef7928ae4e0d"/>
    <p:sldId xmlns:r="http://schemas.openxmlformats.org/officeDocument/2006/relationships" id="270" r:id="R642a379d227b4697"/>
    <p:sldId xmlns:r="http://schemas.openxmlformats.org/officeDocument/2006/relationships" id="271" r:id="Rec1f443b017143eb"/>
    <p:sldId xmlns:r="http://schemas.openxmlformats.org/officeDocument/2006/relationships" id="272" r:id="Rfae246e79e124ae9"/>
    <p:sldId xmlns:r="http://schemas.openxmlformats.org/officeDocument/2006/relationships" id="273" r:id="R978269fde7704fd4"/>
    <p:sldId xmlns:r="http://schemas.openxmlformats.org/officeDocument/2006/relationships" id="274" r:id="R1bc3d75c099b4870"/>
    <p:sldId xmlns:r="http://schemas.openxmlformats.org/officeDocument/2006/relationships" id="275" r:id="R6bb413c479574059"/>
    <p:sldId xmlns:r="http://schemas.openxmlformats.org/officeDocument/2006/relationships" id="276" r:id="Rb184e50a0c124c42"/>
    <p:sldId xmlns:r="http://schemas.openxmlformats.org/officeDocument/2006/relationships" id="277" r:id="R3247087934114328"/>
    <p:sldId xmlns:r="http://schemas.openxmlformats.org/officeDocument/2006/relationships" id="278" r:id="R0fcc40e0b0194226"/>
    <p:sldId xmlns:r="http://schemas.openxmlformats.org/officeDocument/2006/relationships" id="279" r:id="R49603f0cf6c849ff"/>
    <p:sldId xmlns:r="http://schemas.openxmlformats.org/officeDocument/2006/relationships" id="280" r:id="R67181bf20b694c26"/>
    <p:sldId xmlns:r="http://schemas.openxmlformats.org/officeDocument/2006/relationships" id="281" r:id="R6167523a574d4069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B131A437-BD33-6857-4650-77EDF62C55E0}" name="Voss, Andrew" initials="VA" userId="Voss, Andrew" providerId="None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7e6faa68911465e" /><Relationship Type="http://schemas.openxmlformats.org/officeDocument/2006/relationships/slideMaster" Target="/ppt/slideMasters/slideMaster1.xml" Id="Ra558d1b7f2204235" /><Relationship Type="http://schemas.openxmlformats.org/officeDocument/2006/relationships/notesMaster" Target="/ppt/notesMasters/notesMaster1.xml" Id="Rdc119e09322f415e" /><Relationship Type="http://schemas.openxmlformats.org/officeDocument/2006/relationships/presProps" Target="/ppt/presProps.xml" Id="R0eb9a83924e54bbb" /><Relationship Type="http://schemas.openxmlformats.org/officeDocument/2006/relationships/viewProps" Target="/ppt/viewProps.xml" Id="R92472bfc95354a5a" /><Relationship Type="http://schemas.openxmlformats.org/officeDocument/2006/relationships/tableStyles" Target="/ppt/tableStyles.xml" Id="Ree11017f6fc64827" /><Relationship Type="http://schemas.microsoft.com/office/2018/10/relationships/authors" Target="/ppt/authors.xml" Id="Rfda98f061ced4aad" /><Relationship Type="http://schemas.openxmlformats.org/officeDocument/2006/relationships/slide" Target="/ppt/slides/slide1.xml" Id="R1be9fd1baaed4ebe" /><Relationship Type="http://schemas.openxmlformats.org/officeDocument/2006/relationships/slide" Target="/ppt/slides/slide2.xml" Id="Rb4dcd6db4cbc4c09" /><Relationship Type="http://schemas.openxmlformats.org/officeDocument/2006/relationships/slide" Target="/ppt/slides/slide3.xml" Id="R4e40db20d33f4dd0" /><Relationship Type="http://schemas.openxmlformats.org/officeDocument/2006/relationships/slide" Target="/ppt/slides/slide4.xml" Id="Rd5c15c7b71404b78" /><Relationship Type="http://schemas.openxmlformats.org/officeDocument/2006/relationships/slide" Target="/ppt/slides/slide5.xml" Id="R6b4a7196dc38456b" /><Relationship Type="http://schemas.openxmlformats.org/officeDocument/2006/relationships/slide" Target="/ppt/slides/slide6.xml" Id="Rf1921b77abc0461d" /><Relationship Type="http://schemas.openxmlformats.org/officeDocument/2006/relationships/slide" Target="/ppt/slides/slide7.xml" Id="R5d6c91e1aacf4884" /><Relationship Type="http://schemas.openxmlformats.org/officeDocument/2006/relationships/slide" Target="/ppt/slides/slide8.xml" Id="Re52fb16766844a46" /><Relationship Type="http://schemas.openxmlformats.org/officeDocument/2006/relationships/slide" Target="/ppt/slides/slide9.xml" Id="R5e102d03db684f63" /><Relationship Type="http://schemas.openxmlformats.org/officeDocument/2006/relationships/slide" Target="/ppt/slides/slide10.xml" Id="Rcf28f6ec82d94281" /><Relationship Type="http://schemas.openxmlformats.org/officeDocument/2006/relationships/slide" Target="/ppt/slides/slide11.xml" Id="R6c0cf6b372bc4301" /><Relationship Type="http://schemas.openxmlformats.org/officeDocument/2006/relationships/slide" Target="/ppt/slides/slide12.xml" Id="Re83b5ec88ef24bb3" /><Relationship Type="http://schemas.openxmlformats.org/officeDocument/2006/relationships/slide" Target="/ppt/slides/slide13.xml" Id="R1c22c06d90ef4f65" /><Relationship Type="http://schemas.openxmlformats.org/officeDocument/2006/relationships/slide" Target="/ppt/slides/slide14.xml" Id="R332cef7928ae4e0d" /><Relationship Type="http://schemas.openxmlformats.org/officeDocument/2006/relationships/slide" Target="/ppt/slides/slide15.xml" Id="R642a379d227b4697" /><Relationship Type="http://schemas.openxmlformats.org/officeDocument/2006/relationships/slide" Target="/ppt/slides/slide16.xml" Id="Rec1f443b017143eb" /><Relationship Type="http://schemas.openxmlformats.org/officeDocument/2006/relationships/slide" Target="/ppt/slides/slide17.xml" Id="Rfae246e79e124ae9" /><Relationship Type="http://schemas.openxmlformats.org/officeDocument/2006/relationships/slide" Target="/ppt/slides/slide18.xml" Id="R978269fde7704fd4" /><Relationship Type="http://schemas.openxmlformats.org/officeDocument/2006/relationships/slide" Target="/ppt/slides/slide19.xml" Id="R1bc3d75c099b4870" /><Relationship Type="http://schemas.openxmlformats.org/officeDocument/2006/relationships/slide" Target="/ppt/slides/slide20.xml" Id="R6bb413c479574059" /><Relationship Type="http://schemas.openxmlformats.org/officeDocument/2006/relationships/slide" Target="/ppt/slides/slide21.xml" Id="Rb184e50a0c124c42" /><Relationship Type="http://schemas.openxmlformats.org/officeDocument/2006/relationships/slide" Target="/ppt/slides/slide22.xml" Id="R3247087934114328" /><Relationship Type="http://schemas.openxmlformats.org/officeDocument/2006/relationships/slide" Target="/ppt/slides/slide23.xml" Id="R0fcc40e0b0194226" /><Relationship Type="http://schemas.openxmlformats.org/officeDocument/2006/relationships/slide" Target="/ppt/slides/slide24.xml" Id="R49603f0cf6c849ff" /><Relationship Type="http://schemas.openxmlformats.org/officeDocument/2006/relationships/slide" Target="/ppt/slides/slide25.xml" Id="R67181bf20b694c26" /><Relationship Type="http://schemas.openxmlformats.org/officeDocument/2006/relationships/slide" Target="/ppt/slides/slide26.xml" Id="R6167523a574d406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6aa863af45a48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ffb8b05f7874a25" /><Relationship Type="http://schemas.openxmlformats.org/officeDocument/2006/relationships/notesMaster" Target="/ppt/notesMasters/notesMaster1.xml" Id="Rb44928427c5445a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80049a1129d49c9" /><Relationship Type="http://schemas.openxmlformats.org/officeDocument/2006/relationships/notesMaster" Target="/ppt/notesMasters/notesMaster1.xml" Id="R35df674b1628473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38a1e8738e94813" /><Relationship Type="http://schemas.openxmlformats.org/officeDocument/2006/relationships/notesMaster" Target="/ppt/notesMasters/notesMaster1.xml" Id="R0aadbbe178594ad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37c4fb2d19b4345" /><Relationship Type="http://schemas.openxmlformats.org/officeDocument/2006/relationships/notesMaster" Target="/ppt/notesMasters/notesMaster1.xml" Id="R075c66c6b90144e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9a4fd71cf04740" /><Relationship Type="http://schemas.openxmlformats.org/officeDocument/2006/relationships/notesMaster" Target="/ppt/notesMasters/notesMaster1.xml" Id="R6820824f3fa3462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129269d4084447f" /><Relationship Type="http://schemas.openxmlformats.org/officeDocument/2006/relationships/notesMaster" Target="/ppt/notesMasters/notesMaster1.xml" Id="R27a7ac1df5ff4cf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049501713be4c25" /><Relationship Type="http://schemas.openxmlformats.org/officeDocument/2006/relationships/notesMaster" Target="/ppt/notesMasters/notesMaster1.xml" Id="R966a67b096444d0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c92f625a5ea44c3" /><Relationship Type="http://schemas.openxmlformats.org/officeDocument/2006/relationships/notesMaster" Target="/ppt/notesMasters/notesMaster1.xml" Id="Raa10da3e035d448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90bd3825df54b95" /><Relationship Type="http://schemas.openxmlformats.org/officeDocument/2006/relationships/notesMaster" Target="/ppt/notesMasters/notesMaster1.xml" Id="R086f262238ae494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b199e97f73e433b" /><Relationship Type="http://schemas.openxmlformats.org/officeDocument/2006/relationships/notesMaster" Target="/ppt/notesMasters/notesMaster1.xml" Id="R9741bc6a6bdb435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6f0dff6f9b64c36" /><Relationship Type="http://schemas.openxmlformats.org/officeDocument/2006/relationships/notesMaster" Target="/ppt/notesMasters/notesMaster1.xml" Id="R051aa65197a7454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e0d6055ddfc41bf" /><Relationship Type="http://schemas.openxmlformats.org/officeDocument/2006/relationships/notesMaster" Target="/ppt/notesMasters/notesMaster1.xml" Id="R1dd375532e49447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014169d06d144a0" /><Relationship Type="http://schemas.openxmlformats.org/officeDocument/2006/relationships/notesMaster" Target="/ppt/notesMasters/notesMaster1.xml" Id="Rbec8cd64643144e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88f2c7a8c97487d" /><Relationship Type="http://schemas.openxmlformats.org/officeDocument/2006/relationships/notesMaster" Target="/ppt/notesMasters/notesMaster1.xml" Id="Rf5a6d4e7365d455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0d05b7ac6b94049" /><Relationship Type="http://schemas.openxmlformats.org/officeDocument/2006/relationships/notesMaster" Target="/ppt/notesMasters/notesMaster1.xml" Id="R6447b992947340e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326e9a20e2b4257" /><Relationship Type="http://schemas.openxmlformats.org/officeDocument/2006/relationships/notesMaster" Target="/ppt/notesMasters/notesMaster1.xml" Id="Rb1e1ec91268e45e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f6eccf45ece4a9c" /><Relationship Type="http://schemas.openxmlformats.org/officeDocument/2006/relationships/notesMaster" Target="/ppt/notesMasters/notesMaster1.xml" Id="R9bd5c761dba1473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731cdd206744a7b" /><Relationship Type="http://schemas.openxmlformats.org/officeDocument/2006/relationships/notesMaster" Target="/ppt/notesMasters/notesMaster1.xml" Id="Rb93a7c4ceb2142f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1c3aa7544b34327" /><Relationship Type="http://schemas.openxmlformats.org/officeDocument/2006/relationships/notesMaster" Target="/ppt/notesMasters/notesMaster1.xml" Id="R68a491ca055244f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0d640dba7f44108" /><Relationship Type="http://schemas.openxmlformats.org/officeDocument/2006/relationships/notesMaster" Target="/ppt/notesMasters/notesMaster1.xml" Id="R7aa78bf51640471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e97e29ee9774299" /><Relationship Type="http://schemas.openxmlformats.org/officeDocument/2006/relationships/notesMaster" Target="/ppt/notesMasters/notesMaster1.xml" Id="R15389b6b5271472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a03041c313c42a4" /><Relationship Type="http://schemas.openxmlformats.org/officeDocument/2006/relationships/notesMaster" Target="/ppt/notesMasters/notesMaster1.xml" Id="R6d0c7b07d329460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60e0abbad1649e6" /><Relationship Type="http://schemas.openxmlformats.org/officeDocument/2006/relationships/notesMaster" Target="/ppt/notesMasters/notesMaster1.xml" Id="Rc4720562c776478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9d734f00bd742d5" /><Relationship Type="http://schemas.openxmlformats.org/officeDocument/2006/relationships/notesMaster" Target="/ppt/notesMasters/notesMaster1.xml" Id="R94fb14611b38478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a90b50ebf924220" /><Relationship Type="http://schemas.openxmlformats.org/officeDocument/2006/relationships/notesMaster" Target="/ppt/notesMasters/notesMaster1.xml" Id="R7bbda73439e345f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7a700f6f6bb49e7" /><Relationship Type="http://schemas.openxmlformats.org/officeDocument/2006/relationships/notesMaster" Target="/ppt/notesMasters/notesMaster1.xml" Id="R81cff82b95304e4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ME323_Lecture1_slides.md, beam-shear sequence.</a:t>
            </a:r>
          </a:p>
          <a:p xmlns:a="http://schemas.openxmlformats.org/drawingml/2006/main">
            <a:r>
              <a:t>- Standard relation already present in the source deck: τ = VQ/(Iₓt).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formula source: ME323_Module1_Submission1_Design_student.ipynb.</a:t>
            </a:r>
          </a:p>
          <a:p xmlns:a="http://schemas.openxmlformats.org/drawingml/2006/main">
            <a:r>
              <a:t>- Geometry assumption: symmetric rectangular I-section with equal flanges, clear web height Hweb, and flange thickness tf=(18-Hweb)/2.</a:t>
            </a:r>
          </a:p>
          <a:p xmlns:a="http://schemas.openxmlformats.org/drawingml/2006/main">
            <a:r>
              <a:t>- Derivation: Q=integral(y dA)=sum(A_i ybar_i) over the area above the checked plane; t is the local width intersected by that plane.</a:t>
            </a:r>
          </a:p>
          <a:p xmlns:a="http://schemas.openxmlformats.org/drawingml/2006/main">
            <a:r>
              <a:t>- Independent check for (b,Hweb)=(2,12 mm): tf=3 mm, Q_junction=225 mm^3, Q_NA=261 mm^3, t=2 mm, and Q_junction/Q_NA=0.8621.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ME323_Lecture1_slides.md.</a:t>
            </a:r>
          </a:p>
          <a:p xmlns:a="http://schemas.openxmlformats.org/drawingml/2006/main">
            <a:r>
              <a:t>- Campaign interface-strength statement is a calibrated class-model result, not a transferable material constant.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figure: figures/fig_brittle_traces.png.</a:t>
            </a:r>
          </a:p>
          <a:p xmlns:a="http://schemas.openxmlformats.org/drawingml/2006/main">
            <a:r>
              <a:t>- Claim boundary checked against student_traces_4beams.csv and recorded fixture/specimen notes.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governing equation: ME323_Module1_Prelab1_FailureModes_KEY.ipynb, P_LTB implementation.</a:t>
            </a:r>
          </a:p>
          <a:p xmlns:a="http://schemas.openxmlformats.org/drawingml/2006/main">
            <a:r>
              <a:t>- Mcr is used as an elastic critical moment under the stated LTB idealizations.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governing equation: ME323_Module1_Prelab1_FailureModes_KEY.ipynb, R and Mcr definitions.</a:t>
            </a:r>
          </a:p>
          <a:p xmlns:a="http://schemas.openxmlformats.org/drawingml/2006/main">
            <a:r>
              <a:t>- Dimensional check: all three R terms have units of length squared.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governing equation: ME323_Module1_Prelab1_FailureModes_KEY.ipynb, P_LTB implementation.</a:t>
            </a:r>
          </a:p>
          <a:p xmlns:a="http://schemas.openxmlformats.org/drawingml/2006/main">
            <a:r>
              <a:t>- The min(My,Mcr) operation is a course-model yield cap, not a derived inelastic-buckling solution.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geometry source: run13_build_student_notebooks.py, section_props.</a:t>
            </a:r>
          </a:p>
          <a:p xmlns:a="http://schemas.openxmlformats.org/drawingml/2006/main">
            <a:r>
              <a:t>- J_rect uses the finite-aspect-ratio beta correction implemented in the student notebook.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model source: ME323_Module1_Prelab1_FailureModes_KEY.ipynb.</a:t>
            </a:r>
          </a:p>
          <a:p xmlns:a="http://schemas.openxmlformats.org/drawingml/2006/main">
            <a:r>
              <a:t>- The slide states the closed-form LTB branch assumptions and its fixture/material claim ceiling.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model source: ME323_Module1_Prelab1_FailureModes_KEY.ipynb.</a:t>
            </a:r>
          </a:p>
          <a:p xmlns:a="http://schemas.openxmlformats.org/drawingml/2006/main">
            <a:r>
              <a:t>- Independent equation-design check: Mcr=28.64 N m at k=0.33, Mcr=23.14 N m at k=0.377, My=23.28 N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scope: ME323_Lecture1_slides.md and Pre-lab 1 student/KEY notebooks.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current output extracted from ME323_Module1_Prelab1_FailureModes_KEY.ipynb, basic-versus-current LTB comparison.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current output extracted from ME323_Module1_Prelab1_FailureModes_KEY.ipynb, calibrated 15-beam diagnostic.</a:t>
            </a:r>
          </a:p>
          <a:p xmlns:a="http://schemas.openxmlformats.org/drawingml/2006/main">
            <a:r>
              <a:t>- This is an in-sample post-calibration plot, not held-out validation.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current values: run13_build_student_notebooks.py and ME323_Module1_Prelab1_FailureModes_KEY.ipynb.</a:t>
            </a:r>
          </a:p>
          <a:p xmlns:a="http://schemas.openxmlformats.org/drawingml/2006/main">
            <a:r>
              <a:t>- Calibration objective is mean squared log-capacity error over 15 beams; design search uses frozen fitted parameters on a 0.05 mm grid.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claim boundaries synthesized from the preceding equations, calibration diagnostic, and recorded failure notes.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frozen responses verified in ME323_Module1_Submission1_Design_student.ipynb: beam 16 = 475.7 N, beam 17 = 445.8 N.</a:t>
            </a:r>
          </a:p>
          <a:p xmlns:a="http://schemas.openxmlformats.org/drawingml/2006/main">
            <a:r>
              <a:t>- Those responses come from the frozen ground-truth model; only the group design is newly printed and tested.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task and parameter contract: ME323_Module1_Prelab1_FailureModes_student.ipynb and KEY notebook.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34f5a0cbe1429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f9b098d76540f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2d75f658b644f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2e5162eac3419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f979eff952443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16dddb7e68449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aa1f22fdfe4b5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a61ec9f5cf4a5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7bddc7962d439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3fc1cf1e8a460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53e6a9182d4ab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F717BA-8419-4D4B-8118-F0E7BADA586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D9D6579-BBE6-496F-8BE5-68C4755AF8C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AA030B8-AA19-40FD-B839-E4AE658FF5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7/30/26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7A2952-C49B-4951-A683-E0C18F3EF4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42024EB-BB6E-4D2F-8454-83277CB816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80BA103-8D6E-4863-BD06-30F8B47271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38C5017-DA52-4C47-ADF6-1F5FB1E32A1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B000AE6-BDE9-4546-9E8C-1C7DEA20B55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7/30/26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F6CCDCE-9071-4191-B65C-09396E2ABFA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4238C4-AABE-497D-9F3B-29A8307733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D2FC001-3C11-4545-BBD8-C5DBFAD62D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3457AF6-0BAE-472B-AC07-12C6ABDF6D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705FB36-AA42-44A0-8761-F803FE8E656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7/30/26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CF2D44-4705-47AF-B077-B2E730E2F9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36885D-77E0-4EDE-8B82-49D7D63E45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B847FC-04BD-4E0F-814E-03B5D192F4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FDD56B6-2BB0-4B0C-98E3-F9EEF02694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1FA1215-C4CB-459D-83F6-F11FDD514A7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8376470-BC0E-4E54-9D96-C11195AA1A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7/30/26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EFB672B-0208-45FA-BB89-245ED39E05F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2629841-985B-4B71-BB69-C03F6F12ED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4C9A84E-E17A-4D17-B9ED-63AAD098C9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B3F04E-0E59-4132-A3BD-D377F4640B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1D437D-DD9E-4F99-B9EB-6F5235368C9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09D5763-778E-4D93-A5BB-FCC068E2858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946FA6A-CD50-4B2A-A6BB-7FA225A118E3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0D07F46-532A-4088-B970-5716EF30CAC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7/30/26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0393D54-5A0E-4ACB-B4C7-09390C7D18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6BDF473-49BA-4777-8E8E-CDAD9DCCB0F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0FCE03-1DB1-4C3E-B4EB-74AFE41177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D707E4D-E8AB-4179-BACE-248B5216F15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7/30/26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5CF384A-8240-4F83-A0CC-0A281B7302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DF9D043-A25C-4806-A227-96EFDC8312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D5FC0D7-0D7D-4095-B8F9-1CBCAF78A6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7/30/26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95C71B2-7AE0-4818-83F2-39A2F3CC6C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ED20092-2013-49FD-8437-7515EF20B8C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F586F0-4134-48B3-9428-0A0FFCCA66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44FAD44-D102-4E12-B6CD-7F4DAA10705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5428200-F830-4C81-95EB-7A7B4B235AA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79BDECF-B929-47E4-B3E7-0900ED8C8E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7/30/26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0595E97-E010-4CD0-9C15-740697012D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3367E8C-15B5-4595-8BB0-131CE365C4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F8E3B2-B868-4705-96CC-2318942F27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21190F6-0ECF-4123-B8F0-A713FE76308F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831AE5-109F-41BF-A858-529866C9F7D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987FCE1-17EC-4DDE-9543-ACFE9C1B809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7/30/26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971C479-0B0F-4B24-83FF-F30AE3FDA1B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482AF20-1F3B-4E00-A289-B065D33F2FB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922E63-C8EB-4D9E-A009-4D2C2E40AC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DABEF9-DE1E-4FAB-A725-473AAD349A8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D541F53-E7F3-46F4-B8A6-09E97DFCC5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7/30/26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FED8654-F072-4FD8-AB1D-F3C135B07E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D19E2DC-BF53-4CC2-8F90-D1184EE7B4A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5B321784-B87F-40C7-91D9-ECA1859D85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D1C2B4D-A13A-465C-ACA8-6366C8D98AB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04371E-336F-4A38-B2DA-9B9026018E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7/30/26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E8CB41F-C2E7-4897-B56D-C1F78FE3687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B3DE5B5-3C1A-4E07-AEC4-43B5108E24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00c58a5ce904246" /><Relationship Type="http://schemas.openxmlformats.org/officeDocument/2006/relationships/slideLayout" Target="/ppt/slideLayouts/slideLayout1.xml" Id="R3d1cd9a80c134923" /><Relationship Type="http://schemas.openxmlformats.org/officeDocument/2006/relationships/slideLayout" Target="/ppt/slideLayouts/slideLayout2.xml" Id="R59cf11595b2345a8" /><Relationship Type="http://schemas.openxmlformats.org/officeDocument/2006/relationships/slideLayout" Target="/ppt/slideLayouts/slideLayout3.xml" Id="R4cf433539e9f4560" /><Relationship Type="http://schemas.openxmlformats.org/officeDocument/2006/relationships/slideLayout" Target="/ppt/slideLayouts/slideLayout4.xml" Id="R0ed460391d894e90" /><Relationship Type="http://schemas.openxmlformats.org/officeDocument/2006/relationships/slideLayout" Target="/ppt/slideLayouts/slideLayout5.xml" Id="R6a62fec2ef2d4d27" /><Relationship Type="http://schemas.openxmlformats.org/officeDocument/2006/relationships/slideLayout" Target="/ppt/slideLayouts/slideLayout6.xml" Id="R58d68e6504d649ce" /><Relationship Type="http://schemas.openxmlformats.org/officeDocument/2006/relationships/slideLayout" Target="/ppt/slideLayouts/slideLayout7.xml" Id="Rf6a62c6fc27b4eb9" /><Relationship Type="http://schemas.openxmlformats.org/officeDocument/2006/relationships/slideLayout" Target="/ppt/slideLayouts/slideLayout8.xml" Id="R1f9fc254c53148d5" /><Relationship Type="http://schemas.openxmlformats.org/officeDocument/2006/relationships/slideLayout" Target="/ppt/slideLayouts/slideLayout9.xml" Id="Rbce721de86bf49c4" /><Relationship Type="http://schemas.openxmlformats.org/officeDocument/2006/relationships/slideLayout" Target="/ppt/slideLayouts/slideLayout10.xml" Id="R9e477ea9985d4124" /><Relationship Type="http://schemas.openxmlformats.org/officeDocument/2006/relationships/slideLayout" Target="/ppt/slideLayouts/slideLayout11.xml" Id="Rfe0716d402064eb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A4D9207-D2B6-4E6C-A6E6-24E7F9B4AB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65830B5-55D4-427A-A138-2858149AEA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F892702-6BB2-41B2-90B3-32F0BB2583E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7/30/26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729A248-4362-43AC-B13E-CE75B3DFC5D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37A3B6E-AE40-4077-843A-B9DB37CD376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d1cd9a80c134923"/>
    <p:sldLayoutId xmlns:r="http://schemas.openxmlformats.org/officeDocument/2006/relationships" id="2147483650" r:id="R59cf11595b2345a8"/>
    <p:sldLayoutId xmlns:r="http://schemas.openxmlformats.org/officeDocument/2006/relationships" id="2147483651" r:id="R4cf433539e9f4560"/>
    <p:sldLayoutId xmlns:r="http://schemas.openxmlformats.org/officeDocument/2006/relationships" id="2147483652" r:id="R0ed460391d894e90"/>
    <p:sldLayoutId xmlns:r="http://schemas.openxmlformats.org/officeDocument/2006/relationships" id="2147483653" r:id="R6a62fec2ef2d4d27"/>
    <p:sldLayoutId xmlns:r="http://schemas.openxmlformats.org/officeDocument/2006/relationships" id="2147483654" r:id="R58d68e6504d649ce"/>
    <p:sldLayoutId xmlns:r="http://schemas.openxmlformats.org/officeDocument/2006/relationships" id="2147483655" r:id="Rf6a62c6fc27b4eb9"/>
    <p:sldLayoutId xmlns:r="http://schemas.openxmlformats.org/officeDocument/2006/relationships" id="2147483656" r:id="R1f9fc254c53148d5"/>
    <p:sldLayoutId xmlns:r="http://schemas.openxmlformats.org/officeDocument/2006/relationships" id="2147483657" r:id="Rbce721de86bf49c4"/>
    <p:sldLayoutId xmlns:r="http://schemas.openxmlformats.org/officeDocument/2006/relationships" id="2147483658" r:id="R9e477ea9985d4124"/>
    <p:sldLayoutId xmlns:r="http://schemas.openxmlformats.org/officeDocument/2006/relationships" id="2147483659" r:id="Rfe0716d402064eb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26a5c5f2aa44c8e" /><Relationship Type="http://schemas.openxmlformats.org/officeDocument/2006/relationships/notesSlide" Target="/ppt/notesSlides/notesSlide1.xml" Id="R92db693e0719436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98687403972415b" /><Relationship Type="http://schemas.openxmlformats.org/officeDocument/2006/relationships/image" Target="/ppt/media/image.png" Id="R81853f35a45f4c30" /><Relationship Type="http://schemas.openxmlformats.org/officeDocument/2006/relationships/notesSlide" Target="/ppt/notesSlides/notesSlide2.xml" Id="R8de440bab26649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b7ae816f8f840e4" /><Relationship Type="http://schemas.openxmlformats.org/officeDocument/2006/relationships/image" Target="/ppt/media/image.png" Id="R62379e73352845f0" /><Relationship Type="http://schemas.openxmlformats.org/officeDocument/2006/relationships/notesSlide" Target="/ppt/notesSlides/notesSlide3.xml" Id="Rc7c04de2f5cf4f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f11214649584597" /><Relationship Type="http://schemas.openxmlformats.org/officeDocument/2006/relationships/notesSlide" Target="/ppt/notesSlides/notesSlide4.xml" Id="Rd67712192f9e49f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1a83ef6566498e" /><Relationship Type="http://schemas.openxmlformats.org/officeDocument/2006/relationships/notesSlide" Target="/ppt/notesSlides/notesSlide5.xml" Id="R7e83a43abd2143a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849ce9f1c584a3a" /><Relationship Type="http://schemas.openxmlformats.org/officeDocument/2006/relationships/image" Target="/ppt/media/image2.png" Id="R1f7486881b9945ec" /><Relationship Type="http://schemas.openxmlformats.org/officeDocument/2006/relationships/image" Target="/ppt/media/image3.png" Id="R27a689745b8f4105" /><Relationship Type="http://schemas.openxmlformats.org/officeDocument/2006/relationships/notesSlide" Target="/ppt/notesSlides/notesSlide6.xml" Id="R2b99b5b39e7b4fb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3dd4c8f5d2a485f" /><Relationship Type="http://schemas.openxmlformats.org/officeDocument/2006/relationships/image" Target="/ppt/media/image4.png" Id="R206a1365e87644bc" /><Relationship Type="http://schemas.openxmlformats.org/officeDocument/2006/relationships/image" Target="/ppt/media/image5.png" Id="Rde79002359694d38" /><Relationship Type="http://schemas.openxmlformats.org/officeDocument/2006/relationships/notesSlide" Target="/ppt/notesSlides/notesSlide7.xml" Id="R6d5f8b410c1742a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0b1ce41cf27416f" /><Relationship Type="http://schemas.openxmlformats.org/officeDocument/2006/relationships/image" Target="/ppt/media/image6.png" Id="Rae3608f0939d469c" /><Relationship Type="http://schemas.openxmlformats.org/officeDocument/2006/relationships/notesSlide" Target="/ppt/notesSlides/notesSlide8.xml" Id="Rfa47ef1f390049f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b3787813da34c5e" /><Relationship Type="http://schemas.openxmlformats.org/officeDocument/2006/relationships/notesSlide" Target="/ppt/notesSlides/notesSlide9.xml" Id="R2b198a3cfd64402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f3372cbd0594986" /><Relationship Type="http://schemas.openxmlformats.org/officeDocument/2006/relationships/image" Target="/ppt/media/image7.png" Id="R345859b183494e63" /><Relationship Type="http://schemas.openxmlformats.org/officeDocument/2006/relationships/notesSlide" Target="/ppt/notesSlides/notesSlide10.xml" Id="R048ce18e80cd451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d0689f43839438c" /><Relationship Type="http://schemas.openxmlformats.org/officeDocument/2006/relationships/image" Target="/ppt/media/image8.png" Id="Rda5af6be7c244dd8" /><Relationship Type="http://schemas.openxmlformats.org/officeDocument/2006/relationships/image" Target="/ppt/media/image9.png" Id="R2168f3a448b84a45" /><Relationship Type="http://schemas.openxmlformats.org/officeDocument/2006/relationships/notesSlide" Target="/ppt/notesSlides/notesSlide11.xml" Id="R72252e7fea5b4bc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defeb772c534a7f" /><Relationship Type="http://schemas.openxmlformats.org/officeDocument/2006/relationships/notesSlide" Target="/ppt/notesSlides/notesSlide12.xml" Id="R798fb787680b4c2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0965aaa54ef4b79" /><Relationship Type="http://schemas.openxmlformats.org/officeDocument/2006/relationships/image" Target="/ppt/media/image10.png" Id="R325da52aacae417c" /><Relationship Type="http://schemas.openxmlformats.org/officeDocument/2006/relationships/notesSlide" Target="/ppt/notesSlides/notesSlide13.xml" Id="Race0c7ff637f44a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9e41ec0d7e341ec" /><Relationship Type="http://schemas.openxmlformats.org/officeDocument/2006/relationships/image" Target="/ppt/media/image11.png" Id="R083c016bf2a448a6" /><Relationship Type="http://schemas.openxmlformats.org/officeDocument/2006/relationships/notesSlide" Target="/ppt/notesSlides/notesSlide14.xml" Id="R78d9eb1e37d9420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5401bff7fc14d63" /><Relationship Type="http://schemas.openxmlformats.org/officeDocument/2006/relationships/image" Target="/ppt/media/image12.png" Id="R59918b54c3f1483c" /><Relationship Type="http://schemas.openxmlformats.org/officeDocument/2006/relationships/notesSlide" Target="/ppt/notesSlides/notesSlide15.xml" Id="Re1eb221b2fc540a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f35e9f445334bb2" /><Relationship Type="http://schemas.openxmlformats.org/officeDocument/2006/relationships/image" Target="/ppt/media/image13.png" Id="R9f3c75ed31c94318" /><Relationship Type="http://schemas.openxmlformats.org/officeDocument/2006/relationships/notesSlide" Target="/ppt/notesSlides/notesSlide16.xml" Id="R0c0aafaac63b4b8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61f0741e57f4aa6" /><Relationship Type="http://schemas.openxmlformats.org/officeDocument/2006/relationships/image" Target="/ppt/media/image14.png" Id="Rc985a80fdd454296" /><Relationship Type="http://schemas.openxmlformats.org/officeDocument/2006/relationships/notesSlide" Target="/ppt/notesSlides/notesSlide17.xml" Id="R5898e1a649e74a5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7bda40b2098467e" /><Relationship Type="http://schemas.openxmlformats.org/officeDocument/2006/relationships/notesSlide" Target="/ppt/notesSlides/notesSlide18.xml" Id="R432e158ff0984a4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cb031c10410422c" /><Relationship Type="http://schemas.openxmlformats.org/officeDocument/2006/relationships/image" Target="/ppt/media/image15.png" Id="R7a735cfb511f41c7" /><Relationship Type="http://schemas.openxmlformats.org/officeDocument/2006/relationships/notesSlide" Target="/ppt/notesSlides/notesSlide19.xml" Id="Re5ea6cd3a64b4ea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eed9c36e9b494f" /><Relationship Type="http://schemas.openxmlformats.org/officeDocument/2006/relationships/notesSlide" Target="/ppt/notesSlides/notesSlide20.xml" Id="R04fbce02e63d4c8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7a09b144add43a3" /><Relationship Type="http://schemas.openxmlformats.org/officeDocument/2006/relationships/image" Target="/ppt/media/image16.png" Id="Rb54919dc35294c5e" /><Relationship Type="http://schemas.openxmlformats.org/officeDocument/2006/relationships/notesSlide" Target="/ppt/notesSlides/notesSlide21.xml" Id="R9cd891b49d63437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cfeb7bd783345c2" /><Relationship Type="http://schemas.openxmlformats.org/officeDocument/2006/relationships/image" Target="/ppt/media/image17.png" Id="R08ed0e41566c4257" /><Relationship Type="http://schemas.openxmlformats.org/officeDocument/2006/relationships/image" Target="/ppt/media/image18.png" Id="Rd501fafaaea4436d" /><Relationship Type="http://schemas.openxmlformats.org/officeDocument/2006/relationships/notesSlide" Target="/ppt/notesSlides/notesSlide22.xml" Id="R53b59c6cb070485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cee97e6a3f14a1e" /><Relationship Type="http://schemas.openxmlformats.org/officeDocument/2006/relationships/image" Target="/ppt/media/image17.png" Id="R6ebb54e99df7425a" /><Relationship Type="http://schemas.openxmlformats.org/officeDocument/2006/relationships/notesSlide" Target="/ppt/notesSlides/notesSlide23.xml" Id="R905b0a9f3dff401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dc4658dc67c4e79" /><Relationship Type="http://schemas.openxmlformats.org/officeDocument/2006/relationships/notesSlide" Target="/ppt/notesSlides/notesSlide24.xml" Id="R4bfeeb514afa481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dc30dcc692747b1" /><Relationship Type="http://schemas.openxmlformats.org/officeDocument/2006/relationships/image" Target="/ppt/media/image19.png" Id="R5d3f7d5c2d60414a" /><Relationship Type="http://schemas.openxmlformats.org/officeDocument/2006/relationships/notesSlide" Target="/ppt/notesSlides/notesSlide25.xml" Id="R8f23009e498e4ea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febbeb6761740f2" /><Relationship Type="http://schemas.openxmlformats.org/officeDocument/2006/relationships/notesSlide" Target="/ppt/notesSlides/notesSlide26.xml" Id="Rbd662f3aaf4946b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3C4A8FA-BDC3-44C7-8C2F-DA35C7D1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31720"/>
            <a:ext cx="12191695" cy="822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C3AAFA7-0ECF-4662-9705-EA4BA201D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0515600" cy="7694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44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Designing a Beam Under </a:t>
            </a:r>
            <a:r>
              <a:rPr sz="44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"</a:t>
            </a:r>
            <a:r>
              <a:rPr sz="44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Messy</a:t>
            </a:r>
            <a:r>
              <a:rPr sz="44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"</a:t>
            </a:r>
            <a:r>
              <a:rPr sz="44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Physics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59B0EB9-5C3F-418B-93D8-44B78968E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977639"/>
            <a:ext cx="105156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200" b="1">
                <a:solidFill>
                  <a:srgbClr val="2A78D6"/>
                </a:solidFill>
                <a:latin typeface="Calibri"/>
                <a:ea typeface="Calibri"/>
                <a:cs typeface="Calibri"/>
              </a:rPr>
              <a:t>ME 323 Module 1 — Lecture 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DFCD1B5-2355-4856-915E-B03719CD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09160"/>
            <a:ext cx="10515600" cy="7232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Design a 3D-printed I-beam that carries the most load per gram.
Here, “messy” means uncertain properties, interacting failure modes, and test-to-test variation.</a:t>
            </a:r>
          </a:p>
        </p:txBody>
      </p:sp>
    </p:spTree>
    <p:extLst>
      <p:ext uri="{BB962C8B-B14F-4D97-AF65-F5344CB8AC3E}">
        <p14:creationId xmlns:p14="http://schemas.microsoft.com/office/powerpoint/2010/main" val="6419313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E5A1C0F-83A1-4D4C-ADDD-3A274315F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challenge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857EDEE-6AA6-4AAD-94D6-EF4EFBA59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C03E702-2D0D-465C-88D9-D376961D8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54480"/>
            <a:ext cx="1042416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lvl="1" algn="l">
              <a:spcAft>
                <a:spcPts val="1200"/>
              </a:spcAft>
              <a:buNone/>
            </a:pPr>
            <a:r>
              <a:rPr sz="19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Fixed: total height 18 mm, flange width 10 mm, test span 150 mm, printed length 172 mm, PLA.</a:t>
            </a:r>
          </a:p>
          <a:p xmlns:a="http://schemas.openxmlformats.org/drawingml/2006/main">
            <a:pPr lvl="1" algn="l">
              <a:spcAft>
                <a:spcPts val="1200"/>
              </a:spcAft>
              <a:buNone/>
            </a:pPr>
            <a:r>
              <a:rPr sz="19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You choose: web thickness b and web height </a:t>
            </a:r>
            <a:r>
              <a:rPr sz="19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H_web</a:t>
            </a:r>
            <a:r>
              <a:rPr sz="19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(which sets flange thickness).</a:t>
            </a:r>
          </a:p>
          <a:p xmlns:a="http://schemas.openxmlformats.org/drawingml/2006/main">
            <a:pPr lvl="1" algn="l">
              <a:spcAft>
                <a:spcPts val="1200"/>
              </a:spcAft>
              <a:buNone/>
            </a:pPr>
            <a:r>
              <a:rPr sz="19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Goal: maximize strength-to-weight.</a:t>
            </a:r>
          </a:p>
          <a:p xmlns:a="http://schemas.openxmlformats.org/drawingml/2006/main">
            <a:pPr lvl="1" algn="l">
              <a:spcAft>
                <a:spcPts val="1200"/>
              </a:spcAft>
              <a:buNone/>
            </a:pPr>
            <a:r>
              <a:rPr sz="19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•  Constraint you can't dodge: each print-and-test is slow and expensive, so you must make decisions with limited data.</a:t>
            </a:r>
          </a:p>
        </p:txBody>
      </p:sp>
      <p:pic>
        <p:nvPicPr>
          <p:cNvPr id="9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853f35a45f4c3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52950" y="3790950"/>
            <a:ext cx="3086100" cy="29908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3439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313B838-7B22-4920-95E8-DE4F3AA0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challenge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4D21586-6CC0-4B43-9C4A-457095C2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7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379e73352845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92727" y="1371600"/>
            <a:ext cx="4206240" cy="42062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2882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AAC3076-AD31-45D7-9F2B-A92510E4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Why this is hard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72C1B63-C052-40C0-82E1-0518B786E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4194964-3CAB-4068-96AD-0516320A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54480"/>
            <a:ext cx="10424160" cy="30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47625" rIns="76200" bIns="47625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spcAft>
                <a:spcPts val="8"/>
              </a:spcAft>
              <a:buNone/>
              <a:defRPr sz="19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9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Three things stand between you and a clean optimization: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7"/>
              </a:spcAft>
              <a:buNone/>
              <a:defRPr sz="19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9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Printed beams can fracture along the layer lines: the flange peels off the web at a printed interface whose strength appears in no handbook.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7"/>
              </a:spcAft>
              <a:buNone/>
              <a:defRPr sz="19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9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Lateral-torsional buckling depends on the fixture, not just the beam.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7"/>
              </a:spcAft>
              <a:buNone/>
              <a:defRPr sz="19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9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failure modes overlap. Real beams fail in mixed, progressive ways.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buNone/>
              <a:defRPr sz="19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9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Material properties and measured strengths vary from print to print and test to test.</a:t>
            </a:r>
          </a:p>
        </p:txBody>
      </p:sp>
    </p:spTree>
    <p:extLst>
      <p:ext uri="{BB962C8B-B14F-4D97-AF65-F5344CB8AC3E}">
        <p14:creationId xmlns:p14="http://schemas.microsoft.com/office/powerpoint/2010/main" val="401105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9BEF011-827C-4843-A542-6444FFD3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Three modeled capacity branches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053E422-523E-4B08-A111-56F944E6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EF70EDF-0140-4026-8ECF-3FEF55DA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54480"/>
            <a:ext cx="10424160" cy="3429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47625" rIns="76200" bIns="47625" anchor="t">
            <a:noAutofit/>
          </a:bodyPr>
          <a:lstStyle xmlns:a="http://schemas.openxmlformats.org/drawingml/2006/main"/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8"/>
              </a:spcAft>
              <a:buNone/>
              <a:defRPr sz="19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9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Bending:</a:t>
            </a:r>
            <a:r>
              <a:rPr sz="19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the beam yields in flexure.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8"/>
              </a:spcAft>
              <a:buNone/>
              <a:defRPr sz="19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9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Flange–web separation:</a:t>
            </a:r>
            <a:r>
              <a:rPr sz="19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shear at the printed junction exceeds the layer-line bond strength.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14"/>
              </a:spcAft>
              <a:buNone/>
              <a:defRPr sz="19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9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Lateral-torsional buckling (LTB):</a:t>
            </a:r>
            <a:r>
              <a:rPr sz="19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the beam tips over sideways.</a:t>
            </a:r>
          </a:p>
          <a:p xmlns:a="http://schemas.openxmlformats.org/drawingml/2006/main">
            <a:pPr algn="l">
              <a:lnSpc>
                <a:spcPct val="104000"/>
              </a:lnSpc>
              <a:spcAft>
                <a:spcPts val="10"/>
              </a:spcAft>
              <a:buNone/>
              <a:defRPr sz="19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9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class model takes the minimum of these three capacities. Its governing-mode label is a prediction, not proof of the observed fracture mechanism.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9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9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model is incomplete: modes can interact, other mechanisms may contribute, and tests vary.</a:t>
            </a:r>
          </a:p>
        </p:txBody>
      </p:sp>
    </p:spTree>
    <p:extLst>
      <p:ext uri="{BB962C8B-B14F-4D97-AF65-F5344CB8AC3E}">
        <p14:creationId xmlns:p14="http://schemas.microsoft.com/office/powerpoint/2010/main" val="20253318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C7F181E-F6C7-4CA0-9801-3520B1DD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Bending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9F3F7B8-ADE3-4834-9519-D92E1AD77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8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7486881b9945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29523" y="1371600"/>
            <a:ext cx="3932648" cy="777240"/>
          </a:xfrm>
          <a:prstGeom xmlns:a="http://schemas.openxmlformats.org/drawingml/2006/main" prst="rect">
            <a:avLst/>
          </a:prstGeom>
        </p:spPr>
      </p:pic>
      <p:pic>
        <p:nvPicPr>
          <p:cNvPr id="9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689745b8f41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090254" y="2286000"/>
            <a:ext cx="6011186" cy="384048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28341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36BC2B1-4BFD-46A7-ADCF-A4908740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Why I-beams work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90E5908-26BA-479A-B852-162528E4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10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6a1365e87644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33847" y="2057400"/>
            <a:ext cx="4612829" cy="1554479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30A0D5B-FE13-48F8-881D-AAEEAF29E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023360"/>
            <a:ext cx="100584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1000"/>
              </a:spcAft>
              <a:buNone/>
            </a:pPr>
            <a:r>
              <a:rPr sz="19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Bending strength is carried by I_x, and I_x counts each bit of area by the square of its distance from the neutral axis.</a:t>
            </a:r>
          </a:p>
          <a:p xmlns:a="http://schemas.openxmlformats.org/drawingml/2006/main">
            <a:pPr algn="ctr">
              <a:spcAft>
                <a:spcPts val="1000"/>
              </a:spcAft>
              <a:buNone/>
            </a:pPr>
            <a:r>
              <a:rPr sz="19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Material at the edges earns its mass; material near the center barely helps.</a:t>
            </a:r>
          </a:p>
          <a:p xmlns:a="http://schemas.openxmlformats.org/drawingml/2006/main">
            <a:pPr algn="ctr">
              <a:spcAft>
                <a:spcPts val="1000"/>
              </a:spcAft>
              <a:buNone/>
            </a:pPr>
            <a:r>
              <a:rPr sz="19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So put the mass in flanges far out, top and bottom. The web holds them apart (sets the lever arm) and carries the shear.</a:t>
            </a:r>
          </a:p>
          <a:p xmlns:a="http://schemas.openxmlformats.org/drawingml/2006/main">
            <a:pPr algn="ctr">
              <a:spcAft>
                <a:spcPts val="1000"/>
              </a:spcAft>
              <a:buNone/>
            </a:pPr>
            <a:r>
              <a:rPr sz="19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Maximize I_x per gram: that is the strength-to-weight game this module plays.</a:t>
            </a:r>
          </a:p>
        </p:txBody>
      </p:sp>
      <p:pic>
        <p:nvPicPr>
          <p:cNvPr id="12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79002359694d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3171" y="1300127"/>
            <a:ext cx="4275521" cy="26118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74255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44DC969-0AD3-4BDE-A7FA-82E1ABC1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Same mass, more stiffness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E015EBE-3B52-480A-AB6C-EED8F83E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10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3608f0939d46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52447" y="1371600"/>
            <a:ext cx="8686800" cy="4343400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D63C965-8CBB-4884-9837-B7E16EBF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788152"/>
            <a:ext cx="10607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500" b="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Three sections of equal area. Relocating the same material to the flanges multiplies I_x.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71B3E2F-F800-4A4C-B619-144B0916F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245352"/>
            <a:ext cx="106070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600"/>
              </a:spcAft>
              <a:buNone/>
            </a:pPr>
            <a:r>
              <a:rPr sz="1150" b="0">
                <a:solidFill>
                  <a:srgbClr val="52514E"/>
                </a:solidFill>
                <a:latin typeface="Calibri"/>
                <a:ea typeface="Calibri"/>
                <a:cs typeface="Calibri"/>
              </a:rPr>
              <a:t>Even against a solid bar of the same height, the I-beam wins: its mass sits at the extreme fibers.</a:t>
            </a:r>
          </a:p>
        </p:txBody>
      </p:sp>
    </p:spTree>
    <p:extLst>
      <p:ext uri="{BB962C8B-B14F-4D97-AF65-F5344CB8AC3E}">
        <p14:creationId xmlns:p14="http://schemas.microsoft.com/office/powerpoint/2010/main" val="36872954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BAECB1-8805-4E5A-9AF1-7DBAF969E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  <a:defRPr sz="3000" b="1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catch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6D5C2C6-192F-4C88-8DE8-2C740C4B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01DF316-B794-42B5-ABC8-C5CC171DD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54480"/>
            <a:ext cx="10424160" cy="3524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47625" rIns="76200" bIns="47625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spcAft>
                <a:spcPts val="10"/>
              </a:spcAft>
              <a:buNone/>
              <a:defRPr sz="21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I-beam logic says: thinner web, taller section, mass pushed outward.</a:t>
            </a:r>
          </a:p>
          <a:p xmlns:a="http://schemas.openxmlformats.org/drawingml/2006/main">
            <a:pPr algn="l">
              <a:lnSpc>
                <a:spcPct val="104000"/>
              </a:lnSpc>
              <a:spcAft>
                <a:spcPts val="8"/>
              </a:spcAft>
              <a:buNone/>
              <a:defRPr sz="21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Push too far and you get the other two modes: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8"/>
              </a:spcAft>
              <a:buNone/>
              <a:defRPr sz="21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a thin, short web can overload the printed flange–web junction;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14"/>
              </a:spcAft>
              <a:buNone/>
              <a:defRPr sz="21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a tall, narrow section can tip over (LTB) before it yields.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1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efficient shape and the failure modes pull against each other. The design problem is to balance that tradeoff while accounting for uncertain model parameters and test variability.</a:t>
            </a:r>
          </a:p>
        </p:txBody>
      </p:sp>
    </p:spTree>
    <p:extLst>
      <p:ext uri="{BB962C8B-B14F-4D97-AF65-F5344CB8AC3E}">
        <p14:creationId xmlns:p14="http://schemas.microsoft.com/office/powerpoint/2010/main" val="213173709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284A26C-3E2A-4523-830B-DD8E8AC0A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One shear equation; choose the plane you want to check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D0CD4EB-77C1-4981-AF1F-779A7A62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9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5859b183494e63"/>
          <a:stretch xmlns:a="http://schemas.openxmlformats.org/drawingml/2006/main"/>
        </p:blipFill>
        <p:spPr>
          <a:xfrm xmlns:a="http://schemas.openxmlformats.org/drawingml/2006/main">
            <a:off x="3524250" y="1285875"/>
            <a:ext cx="5143500" cy="1714500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28D5FD8-D905-436A-9277-B42E44D4B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28950"/>
            <a:ext cx="9753600" cy="323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47625" rIns="76200" bIns="47625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spcAft>
                <a:spcPts val="6"/>
              </a:spcAft>
              <a:buNone/>
              <a:defRPr sz="1725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V</a:t>
            </a:r>
            <a:r>
              <a:rPr sz="172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— internal shear force at the beam section. In either half of our three-point-bend span, </a:t>
            </a:r>
            <a:r>
              <a:rPr sz="172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V = P/2</a:t>
            </a:r>
            <a:r>
              <a:rPr sz="172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lnSpc>
                <a:spcPct val="104000"/>
              </a:lnSpc>
              <a:spcAft>
                <a:spcPts val="6"/>
              </a:spcAft>
              <a:buNone/>
              <a:defRPr sz="1725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Iₓ</a:t>
            </a:r>
            <a:r>
              <a:rPr sz="172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— second moment of area of the entire cross-section about the neutral axis.</a:t>
            </a:r>
          </a:p>
          <a:p xmlns:a="http://schemas.openxmlformats.org/drawingml/2006/main">
            <a:pPr algn="l">
              <a:lnSpc>
                <a:spcPct val="104000"/>
              </a:lnSpc>
              <a:spcAft>
                <a:spcPts val="6"/>
              </a:spcAft>
              <a:buNone/>
              <a:defRPr sz="1725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Q</a:t>
            </a:r>
            <a:r>
              <a:rPr sz="172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— first moment of the area above (or below) the horizontal plane being checked.</a:t>
            </a:r>
          </a:p>
          <a:p xmlns:a="http://schemas.openxmlformats.org/drawingml/2006/main">
            <a:pPr algn="l">
              <a:lnSpc>
                <a:spcPct val="104000"/>
              </a:lnSpc>
              <a:spcAft>
                <a:spcPts val="10"/>
              </a:spcAft>
              <a:buNone/>
              <a:defRPr sz="1725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</a:t>
            </a:r>
            <a:r>
              <a:rPr sz="172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— width of material along that plane.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Change the plane → Q and t change. The highest-stress plane need not be the weakest plane.</a:t>
            </a:r>
          </a:p>
        </p:txBody>
      </p:sp>
    </p:spTree>
    <p:extLst>
      <p:ext uri="{BB962C8B-B14F-4D97-AF65-F5344CB8AC3E}">
        <p14:creationId xmlns:p14="http://schemas.microsoft.com/office/powerpoint/2010/main" val="177469414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E982CF2-32D4-4E38-9DDD-709895D75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  <a:defRPr sz="3000" b="1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Q comes from area; t comes from the cut width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644920C-9B54-4737-BD81-4D1839D0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12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5af6be7c244dd8"/>
          <a:stretch xmlns:a="http://schemas.openxmlformats.org/drawingml/2006/main"/>
        </p:blipFill>
        <p:spPr>
          <a:xfrm xmlns:a="http://schemas.openxmlformats.org/drawingml/2006/main">
            <a:off x="5619750" y="1410103"/>
            <a:ext cx="5810250" cy="3704419"/>
          </a:xfrm>
          <a:prstGeom xmlns:a="http://schemas.openxmlformats.org/drawingml/2006/main" prst="rect">
            <a:avLst/>
          </a:prstGeom>
        </p:spPr>
      </p:pic>
      <p:pic>
        <p:nvPicPr>
          <p:cNvPr id="1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68f3a448b84a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1714500"/>
            <a:ext cx="4667250" cy="3476625"/>
          </a:xfrm>
          <a:prstGeom xmlns:a="http://schemas.openxmlformats.org/drawingml/2006/main" prst="rect">
            <a:avLst/>
          </a:prstGeom>
        </p:spPr>
      </p:pic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A100A7-40B6-4810-9884-61C50A5D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095875"/>
            <a:ext cx="550545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47625" rIns="76200" bIns="47625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8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388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Same cut width, different area:</a:t>
            </a:r>
            <a:r>
              <a:rPr sz="138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both planes cut through the web, but Q changes because the area above the plane changes.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8D492D5-6E70-4245-8370-8739A2B3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762625"/>
            <a:ext cx="550545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47625" rIns="76200" bIns="47625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13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313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Example (b, Hweb) = (2, 12 mm): </a:t>
            </a:r>
            <a:r>
              <a:rPr sz="1313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tf is 3 mm. The formulas give a junction Q of 225 mm³ and neutral-axis Q of 261 mm³ with a 2 mm cut width. Junction stress is 0.862 times the neutral-axis stress (14% lower).</a:t>
            </a:r>
          </a:p>
        </p:txBody>
      </p:sp>
    </p:spTree>
    <p:extLst>
      <p:ext uri="{BB962C8B-B14F-4D97-AF65-F5344CB8AC3E}">
        <p14:creationId xmlns:p14="http://schemas.microsoft.com/office/powerpoint/2010/main" val="5573617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52529B7-F909-45D2-8227-27E9A981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What the separation check assumes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C3237E7-E059-4031-957A-E09C35881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5094B6C-FE97-41B9-88B9-BC82A76E8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54480"/>
            <a:ext cx="1042416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47625" rIns="76200" bIns="47625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spcAft>
                <a:spcPts val="12"/>
              </a:spcAft>
              <a:buNone/>
              <a:defRPr sz="19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9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Stress model:</a:t>
            </a:r>
            <a:r>
              <a:rPr sz="19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evaluate the beam-shear equation at the printed flange–web junction.</a:t>
            </a:r>
          </a:p>
          <a:p xmlns:a="http://schemas.openxmlformats.org/drawingml/2006/main">
            <a:pPr algn="l">
              <a:lnSpc>
                <a:spcPct val="104000"/>
              </a:lnSpc>
              <a:spcAft>
                <a:spcPts val="12"/>
              </a:spcAft>
              <a:buNone/>
              <a:defRPr sz="19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9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Strength model:</a:t>
            </a:r>
            <a:r>
              <a:rPr sz="19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τᵢ is the bond strength along the printed layer lines—not the bulk-plastic strength. No handbook gives this joint property.</a:t>
            </a:r>
          </a:p>
          <a:p xmlns:a="http://schemas.openxmlformats.org/drawingml/2006/main">
            <a:pPr algn="l">
              <a:lnSpc>
                <a:spcPct val="104000"/>
              </a:lnSpc>
              <a:spcAft>
                <a:spcPts val="12"/>
              </a:spcAft>
              <a:buNone/>
              <a:defRPr sz="19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9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Pre-lab calibration:</a:t>
            </a:r>
            <a:r>
              <a:rPr sz="19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start from the bulk shear-yield estimate of 43.9 MPa, then infer τᵢ from the beam tests. This campaign lands near 18 MPa; print session and support condition can move it.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9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9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Claim boundary:</a:t>
            </a:r>
            <a:r>
              <a:rPr sz="19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this check predicts a capacity trend for one candidate plane. It does not diagnose a fracture mechanism from a force–displacement trace, and real failures can mix modes.</a:t>
            </a:r>
          </a:p>
        </p:txBody>
      </p:sp>
    </p:spTree>
    <p:extLst>
      <p:ext uri="{BB962C8B-B14F-4D97-AF65-F5344CB8AC3E}">
        <p14:creationId xmlns:p14="http://schemas.microsoft.com/office/powerpoint/2010/main" val="19924158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01D0B94-AD78-44E3-AD19-2F37E19E9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Trace shape tells you when load was lost—not why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278A92A-1A15-4014-9B1A-C132B686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10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5da52aacae41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96664" y="1371600"/>
            <a:ext cx="6798365" cy="4343400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AE6C257-11D5-4089-9CDF-8A5B8BD5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734050"/>
            <a:ext cx="10607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47625" rIns="76200" bIns="47625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53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3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Thin webs can lose load abruptly; thicker webs can plateau or shed load gradually.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674685-BF26-452C-9708-8EF763478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162675"/>
            <a:ext cx="106070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47625" rIns="76200" bIns="47625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8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388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Claim boundary:</a:t>
            </a:r>
            <a:r>
              <a:rPr sz="138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the curve describes the timing and style of load loss. Mechanism requires specimen and fixture observations too.</a:t>
            </a:r>
          </a:p>
        </p:txBody>
      </p:sp>
    </p:spTree>
    <p:extLst>
      <p:ext uri="{BB962C8B-B14F-4D97-AF65-F5344CB8AC3E}">
        <p14:creationId xmlns:p14="http://schemas.microsoft.com/office/powerpoint/2010/main" val="161123211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1E5CD24-07F4-466D-8256-A8781247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LTB starts from an elastic critical moment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FAEE0F2-08B2-4AE7-920A-449F3E92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9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3c016bf2a448a6"/>
          <a:stretch xmlns:a="http://schemas.openxmlformats.org/drawingml/2006/main"/>
        </p:blipFill>
        <p:spPr>
          <a:xfrm xmlns:a="http://schemas.openxmlformats.org/drawingml/2006/main">
            <a:off x="2095500" y="1533525"/>
            <a:ext cx="8001000" cy="1600200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3FA8577-6D97-4C5C-A4EC-370AAA12B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333750"/>
            <a:ext cx="10058400" cy="3143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47625" rIns="76200" bIns="47625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spcAft>
                <a:spcPts val="8"/>
              </a:spcAft>
              <a:buNone/>
              <a:defRPr sz="1575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Mcr</a:t>
            </a:r>
            <a:r>
              <a:rPr sz="157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— elastic moment at which the idealized beam becomes laterally unstable.</a:t>
            </a:r>
          </a:p>
          <a:p xmlns:a="http://schemas.openxmlformats.org/drawingml/2006/main">
            <a:pPr algn="l">
              <a:lnSpc>
                <a:spcPct val="104000"/>
              </a:lnSpc>
              <a:spcAft>
                <a:spcPts val="8"/>
              </a:spcAft>
              <a:buNone/>
              <a:defRPr sz="1575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E</a:t>
            </a:r>
            <a:r>
              <a:rPr sz="157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— Young’s modulus; </a:t>
            </a:r>
            <a:r>
              <a:rPr sz="157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Iy</a:t>
            </a:r>
            <a:r>
              <a:rPr sz="157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— weak-axis second moment of area.</a:t>
            </a:r>
          </a:p>
          <a:p xmlns:a="http://schemas.openxmlformats.org/drawingml/2006/main">
            <a:pPr algn="l">
              <a:lnSpc>
                <a:spcPct val="104000"/>
              </a:lnSpc>
              <a:spcAft>
                <a:spcPts val="8"/>
              </a:spcAft>
              <a:buNone/>
              <a:defRPr sz="1575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Lb</a:t>
            </a:r>
            <a:r>
              <a:rPr sz="157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— effective unbraced length; </a:t>
            </a:r>
            <a:r>
              <a:rPr sz="157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zg</a:t>
            </a:r>
            <a:r>
              <a:rPr sz="157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— load height measured from the shear center.</a:t>
            </a:r>
          </a:p>
          <a:p xmlns:a="http://schemas.openxmlformats.org/drawingml/2006/main">
            <a:pPr algn="l">
              <a:lnSpc>
                <a:spcPct val="104000"/>
              </a:lnSpc>
              <a:spcAft>
                <a:spcPts val="10"/>
              </a:spcAft>
              <a:buNone/>
              <a:defRPr sz="1575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C1 and C2</a:t>
            </a:r>
            <a:r>
              <a:rPr sz="157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— dimensionless coefficients for the moment diagram and load-height effect.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This predicts an elastic instability of an idealized beam; it is not an observed fracture label.</a:t>
            </a:r>
          </a:p>
        </p:txBody>
      </p:sp>
    </p:spTree>
    <p:extLst>
      <p:ext uri="{BB962C8B-B14F-4D97-AF65-F5344CB8AC3E}">
        <p14:creationId xmlns:p14="http://schemas.microsoft.com/office/powerpoint/2010/main" val="29645313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5B041F-1940-41B9-A040-250EF5ED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Every term under the root is a squared length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3E67545-D146-4A5B-917C-9A676D261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9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918b54c3f1483c"/>
          <a:stretch xmlns:a="http://schemas.openxmlformats.org/drawingml/2006/main"/>
        </p:blipFill>
        <p:spPr>
          <a:xfrm xmlns:a="http://schemas.openxmlformats.org/drawingml/2006/main">
            <a:off x="2095500" y="1509713"/>
            <a:ext cx="8001000" cy="1600200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D4115A2-0E54-44A7-9411-5442AFCD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286125"/>
            <a:ext cx="10058400" cy="3095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47625" rIns="76200" bIns="47625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spcAft>
                <a:spcPts val="8"/>
              </a:spcAft>
              <a:buNone/>
              <a:defRPr sz="153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38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Cw / Iy</a:t>
            </a:r>
            <a:r>
              <a:rPr sz="153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— warping length scale; Cw has units m⁶ and Iy has units m⁴.</a:t>
            </a:r>
          </a:p>
          <a:p xmlns:a="http://schemas.openxmlformats.org/drawingml/2006/main">
            <a:pPr algn="l">
              <a:lnSpc>
                <a:spcPct val="104000"/>
              </a:lnSpc>
              <a:spcAft>
                <a:spcPts val="8"/>
              </a:spcAft>
              <a:buNone/>
              <a:defRPr sz="153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38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Torsion term</a:t>
            </a:r>
            <a:r>
              <a:rPr sz="153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— combines effective length, shear modulus G, and St. Venant torsional constant J.</a:t>
            </a:r>
          </a:p>
          <a:p xmlns:a="http://schemas.openxmlformats.org/drawingml/2006/main">
            <a:pPr algn="l">
              <a:lnSpc>
                <a:spcPct val="104000"/>
              </a:lnSpc>
              <a:spcAft>
                <a:spcPts val="8"/>
              </a:spcAft>
              <a:buNone/>
              <a:defRPr sz="153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38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Load-height term</a:t>
            </a:r>
            <a:r>
              <a:rPr sz="153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— top-flange loading is destabilizing because its contribution is subtracted after the square root.</a:t>
            </a:r>
          </a:p>
          <a:p xmlns:a="http://schemas.openxmlformats.org/drawingml/2006/main">
            <a:pPr algn="l">
              <a:lnSpc>
                <a:spcPct val="104000"/>
              </a:lnSpc>
              <a:spcAft>
                <a:spcPts val="8"/>
              </a:spcAft>
              <a:buNone/>
              <a:defRPr sz="153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38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Dimensional check:</a:t>
            </a:r>
            <a:r>
              <a:rPr sz="153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R is in m², the bracket in the critical-moment equation is in m, and Mcr is in N·m.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3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3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Course values: E = 2.50 GPa, G = 0.962 GPa, C1 = 1.35, and C2 = 0.55.</a:t>
            </a:r>
          </a:p>
        </p:txBody>
      </p:sp>
    </p:spTree>
    <p:extLst>
      <p:ext uri="{BB962C8B-B14F-4D97-AF65-F5344CB8AC3E}">
        <p14:creationId xmlns:p14="http://schemas.microsoft.com/office/powerpoint/2010/main" val="26916371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5ACB587-2758-44C8-9CF3-673B3A314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course converts moment to load—and caps at yield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D26974C-1062-4FE5-ADC6-1C6585E74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9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c75ed31c94318"/>
          <a:stretch xmlns:a="http://schemas.openxmlformats.org/drawingml/2006/main"/>
        </p:blipFill>
        <p:spPr>
          <a:xfrm xmlns:a="http://schemas.openxmlformats.org/drawingml/2006/main">
            <a:off x="2441807" y="1333500"/>
            <a:ext cx="7308385" cy="2238375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0F437F6-00BE-4562-BFBF-5C51C61E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667125"/>
            <a:ext cx="10058400" cy="2714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47625" rIns="76200" bIns="47625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spcAft>
                <a:spcPts val="8"/>
              </a:spcAft>
              <a:buNone/>
              <a:defRPr sz="153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38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σy</a:t>
            </a:r>
            <a:r>
              <a:rPr sz="153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— effective flexural yield strength; </a:t>
            </a:r>
            <a:r>
              <a:rPr sz="1538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Ix</a:t>
            </a:r>
            <a:r>
              <a:rPr sz="153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— strong-axis second moment; </a:t>
            </a:r>
            <a:r>
              <a:rPr sz="1538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</a:t>
            </a:r>
            <a:r>
              <a:rPr sz="153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— neutral axis to the outer surface.</a:t>
            </a:r>
          </a:p>
          <a:p xmlns:a="http://schemas.openxmlformats.org/drawingml/2006/main">
            <a:pPr algn="l">
              <a:lnSpc>
                <a:spcPct val="104000"/>
              </a:lnSpc>
              <a:spcAft>
                <a:spcPts val="8"/>
              </a:spcAft>
              <a:buNone/>
              <a:defRPr sz="153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38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P</a:t>
            </a:r>
            <a:r>
              <a:rPr sz="153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— center load; </a:t>
            </a:r>
            <a:r>
              <a:rPr sz="1538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L = 150 mm</a:t>
            </a:r>
            <a:r>
              <a:rPr sz="153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— support span. The moment relation assumes simply supported three-point bending.</a:t>
            </a:r>
          </a:p>
          <a:p xmlns:a="http://schemas.openxmlformats.org/drawingml/2006/main">
            <a:pPr algn="l">
              <a:lnSpc>
                <a:spcPct val="104000"/>
              </a:lnSpc>
              <a:spcAft>
                <a:spcPts val="8"/>
              </a:spcAft>
              <a:buNone/>
              <a:defRPr sz="153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38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k</a:t>
            </a:r>
            <a:r>
              <a:rPr sz="153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sets effective length. For top-surface loading, zg = c = T/2 = 9 mm.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3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38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minimum is a pragmatic yield cap used by the class model—not a full inelastic-buckling theory.</a:t>
            </a:r>
          </a:p>
        </p:txBody>
      </p:sp>
    </p:spTree>
    <p:extLst>
      <p:ext uri="{BB962C8B-B14F-4D97-AF65-F5344CB8AC3E}">
        <p14:creationId xmlns:p14="http://schemas.microsoft.com/office/powerpoint/2010/main" val="42210916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1A9EDA8-5586-4154-BF3C-70AC716D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Section geometry supplies Iy, J, and Cw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133BF5E-2CE0-4431-B84F-C94BBD634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9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85a80fdd454296"/>
          <a:stretch xmlns:a="http://schemas.openxmlformats.org/drawingml/2006/main"/>
        </p:blipFill>
        <p:spPr>
          <a:xfrm xmlns:a="http://schemas.openxmlformats.org/drawingml/2006/main">
            <a:off x="1931751" y="1285875"/>
            <a:ext cx="8328499" cy="3333750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1AD7D2C-D866-4947-B7F8-8E9BC340E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10553700" cy="228828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47625" rIns="76200" bIns="47625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spcAft>
                <a:spcPts val="6"/>
              </a:spcAft>
              <a:buNone/>
              <a:defRPr sz="138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388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Geometry:</a:t>
            </a:r>
            <a:r>
              <a:rPr sz="138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b and Hw are design variables; flange width B = 10 mm and total height T = 18 mm are fixed.</a:t>
            </a:r>
          </a:p>
          <a:p xmlns:a="http://schemas.openxmlformats.org/drawingml/2006/main">
            <a:pPr algn="l">
              <a:lnSpc>
                <a:spcPct val="104000"/>
              </a:lnSpc>
              <a:spcAft>
                <a:spcPts val="6"/>
              </a:spcAft>
              <a:buNone/>
              <a:defRPr sz="138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388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Properties:</a:t>
            </a:r>
            <a:r>
              <a:rPr sz="138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Iy is weak-axis bending resistance, J is St. Venant torsion, and Cw is the warping constant.</a:t>
            </a:r>
          </a:p>
          <a:p xmlns:a="http://schemas.openxmlformats.org/drawingml/2006/main">
            <a:pPr algn="l">
              <a:lnSpc>
                <a:spcPct val="104000"/>
              </a:lnSpc>
              <a:spcAft>
                <a:spcPts val="6"/>
              </a:spcAft>
              <a:buNone/>
              <a:defRPr sz="138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388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Units:</a:t>
            </a:r>
            <a:r>
              <a:rPr sz="138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the code converts every dimension from mm to m before returning Iy and J in m⁴ and Cw in m⁶.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38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38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rectangular β correction is retained for finite aspect ratio; interpretation is yours, while derivation remains background.</a:t>
            </a:r>
          </a:p>
        </p:txBody>
      </p:sp>
    </p:spTree>
    <p:extLst>
      <p:ext uri="{BB962C8B-B14F-4D97-AF65-F5344CB8AC3E}">
        <p14:creationId xmlns:p14="http://schemas.microsoft.com/office/powerpoint/2010/main" val="51341600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31FFFA-F965-48F3-9796-756A72109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LTB equation is conditional on five idealizations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E0C8719-5076-4F73-801A-7E6245A7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70FD97E-BDE7-49AC-9A11-1CF38521B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04950"/>
            <a:ext cx="10424160" cy="495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47625" rIns="76200" bIns="47625" anchor="t">
            <a:noAutofit/>
          </a:bodyPr>
          <a:lstStyle xmlns:a="http://schemas.openxmlformats.org/drawingml/2006/main"/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9"/>
              </a:spcAft>
              <a:buNone/>
              <a:defRPr sz="15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Section geometry:</a:t>
            </a:r>
            <a:r>
              <a:rPr sz="15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open, doubly symmetric, and thin-walled. The torsion approximation is least credible for the thickest webs.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9"/>
              </a:spcAft>
              <a:buNone/>
              <a:defRPr sz="15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Elastic stability:</a:t>
            </a:r>
            <a:r>
              <a:rPr sz="15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linear material, initially straight beam, and no residual stress; printed parts violate all three.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9"/>
              </a:spcAft>
              <a:buNone/>
              <a:defRPr sz="15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Warping and supports:</a:t>
            </a:r>
            <a:r>
              <a:rPr sz="15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end restraint is compressed into fitted k rather than modeled from the fixture geometry.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9"/>
              </a:spcAft>
              <a:buNone/>
              <a:defRPr sz="15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Material:</a:t>
            </a:r>
            <a:r>
              <a:rPr sz="15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isotropic E and G. Printed PLA is layered and direction-dependent; the model uses E = 2.50 GPa and G = 0.962 GPa.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14"/>
              </a:spcAft>
              <a:buNone/>
              <a:defRPr sz="15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Loading:</a:t>
            </a:r>
            <a:r>
              <a:rPr sz="150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central top-flange load represented by fixed C1, C2, and zg.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Consequence: the LTB branch is a fixture-conditional capacity proxy with model uncertainty.</a:t>
            </a:r>
          </a:p>
        </p:txBody>
      </p:sp>
    </p:spTree>
    <p:extLst>
      <p:ext uri="{BB962C8B-B14F-4D97-AF65-F5344CB8AC3E}">
        <p14:creationId xmlns:p14="http://schemas.microsoft.com/office/powerpoint/2010/main" val="154194783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E833352-214F-4EFD-96E4-3011E600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k changes effective length—and enters Mcr twice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9E87E8E-E38A-4F48-A56F-C5E51617C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9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735cfb511f41c7"/>
          <a:stretch xmlns:a="http://schemas.openxmlformats.org/drawingml/2006/main"/>
        </p:blipFill>
        <p:spPr>
          <a:xfrm xmlns:a="http://schemas.openxmlformats.org/drawingml/2006/main">
            <a:off x="1815480" y="1333500"/>
            <a:ext cx="8561039" cy="2476500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BD61875-A370-4580-A401-57439E123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857625"/>
            <a:ext cx="10058400" cy="3495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47625" rIns="76200" bIns="47625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spcAft>
                <a:spcPts val="8"/>
              </a:spcAft>
              <a:buNone/>
              <a:defRPr sz="1463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463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k</a:t>
            </a:r>
            <a:r>
              <a:rPr sz="1463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is a dimensionless effective-length factor for the fixture; lower k means stronger restraint.</a:t>
            </a:r>
          </a:p>
          <a:p xmlns:a="http://schemas.openxmlformats.org/drawingml/2006/main">
            <a:pPr algn="l">
              <a:lnSpc>
                <a:spcPct val="104000"/>
              </a:lnSpc>
              <a:spcAft>
                <a:spcPts val="8"/>
              </a:spcAft>
              <a:buNone/>
              <a:defRPr sz="1463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463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Handbook starting value: </a:t>
            </a:r>
            <a:r>
              <a:rPr sz="1463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0.33</a:t>
            </a:r>
            <a:r>
              <a:rPr sz="1463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. Fifteen-beam class fit: </a:t>
            </a:r>
            <a:r>
              <a:rPr sz="1463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0.377</a:t>
            </a:r>
            <a:r>
              <a:rPr sz="1463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lnSpc>
                <a:spcPct val="104000"/>
              </a:lnSpc>
              <a:spcAft>
                <a:spcPts val="8"/>
              </a:spcAft>
              <a:buNone/>
              <a:defRPr sz="1463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463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Not a pure inverse-square law:</a:t>
            </a:r>
            <a:r>
              <a:rPr sz="1463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kL also appears inside the square root.</a:t>
            </a:r>
          </a:p>
          <a:p xmlns:a="http://schemas.openxmlformats.org/drawingml/2006/main">
            <a:pPr algn="l">
              <a:lnSpc>
                <a:spcPct val="104000"/>
              </a:lnSpc>
              <a:spcAft>
                <a:spcPts val="8"/>
              </a:spcAft>
              <a:buNone/>
              <a:defRPr sz="1463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463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At the equation design, changing k from 0.33 to 0.377 lowers elastic Mcr from 28.6 to 23.1 N·m; the yield moment is 23.3 N·m.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63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463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Because k absorbs fixture behavior and omitted physics, it does not transfer automatically to another test setup.</a:t>
            </a:r>
          </a:p>
        </p:txBody>
      </p:sp>
    </p:spTree>
    <p:extLst>
      <p:ext uri="{BB962C8B-B14F-4D97-AF65-F5344CB8AC3E}">
        <p14:creationId xmlns:p14="http://schemas.microsoft.com/office/powerpoint/2010/main" val="17596943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DCA73E9-B45C-4957-98B1-0B72AD0B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What you must understand about the LTB branch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B2E5780-B97B-4956-938A-4AB8C88D3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8628E2A-22D3-43E4-BC65-064F894B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04950"/>
            <a:ext cx="10424160" cy="495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47625" rIns="76200" bIns="47625" anchor="t">
            <a:noAutofit/>
          </a:bodyPr>
          <a:lstStyle xmlns:a="http://schemas.openxmlformats.org/drawingml/2006/main"/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10"/>
              </a:spcAft>
              <a:buNone/>
              <a:defRPr sz="1575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Recognize the mode:</a:t>
            </a:r>
            <a:r>
              <a:rPr sz="157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tall, thin sections can roll sideways and twist before flexural yield.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10"/>
              </a:spcAft>
              <a:buNone/>
              <a:defRPr sz="1575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Read the design variables:</a:t>
            </a:r>
            <a:r>
              <a:rPr sz="157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decreasing web thickness b and increasing clear web height Hw can make LTB more competitive.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10"/>
              </a:spcAft>
              <a:buNone/>
              <a:defRPr sz="1575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Interpret k physically:</a:t>
            </a:r>
            <a:r>
              <a:rPr sz="157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it summarizes effective restraint and is fixture-specific.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10"/>
              </a:spcAft>
              <a:buNone/>
              <a:defRPr sz="1575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Separate quantities:</a:t>
            </a:r>
            <a:r>
              <a:rPr sz="157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Mcr is an elastic moment; the course LTB branch converts it to load and applies a yield cap.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14"/>
              </a:spcAft>
              <a:buNone/>
              <a:defRPr sz="1575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Read margins:</a:t>
            </a:r>
            <a:r>
              <a:rPr sz="157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a near-tie between branches makes the single governing label fragile.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Background, not assigned:</a:t>
            </a:r>
            <a:r>
              <a:rPr sz="157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deriving Iy, J, Cw, or the C1/C2 closed form.</a:t>
            </a:r>
          </a:p>
        </p:txBody>
      </p:sp>
    </p:spTree>
    <p:extLst>
      <p:ext uri="{BB962C8B-B14F-4D97-AF65-F5344CB8AC3E}">
        <p14:creationId xmlns:p14="http://schemas.microsoft.com/office/powerpoint/2010/main" val="106615164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6CE6631-EE87-4E4C-B2F7-638511761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Model choices reshape the LTB branch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5A83DC0-77D4-48F2-AD03-1B4C4C42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9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4919dc35294c5e"/>
          <a:stretch xmlns:a="http://schemas.openxmlformats.org/drawingml/2006/main"/>
        </p:blipFill>
        <p:spPr>
          <a:xfrm xmlns:a="http://schemas.openxmlformats.org/drawingml/2006/main">
            <a:off x="666750" y="1432034"/>
            <a:ext cx="10858500" cy="3231931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B302EFB-F56A-4991-989A-AD79FC7AE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810125"/>
            <a:ext cx="10607040" cy="1571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47625" rIns="76200" bIns="47625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spcAft>
                <a:spcPts val="7"/>
              </a:spcAft>
              <a:buNone/>
              <a:defRPr sz="1425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Axes:</a:t>
            </a:r>
            <a:r>
              <a:rPr sz="142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b is web thickness and Hw is clear web height, both in mm.</a:t>
            </a:r>
          </a:p>
          <a:p xmlns:a="http://schemas.openxmlformats.org/drawingml/2006/main">
            <a:pPr algn="ctr">
              <a:lnSpc>
                <a:spcPct val="104000"/>
              </a:lnSpc>
              <a:spcAft>
                <a:spcPts val="7"/>
              </a:spcAft>
              <a:buNone/>
              <a:defRPr sz="1425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Left:</a:t>
            </a:r>
            <a:r>
              <a:rPr sz="142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stripped-down elastic LTB. </a:t>
            </a:r>
            <a:r>
              <a:rPr sz="142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Center:</a:t>
            </a:r>
            <a:r>
              <a:rPr sz="142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current yield-capped class branch. </a:t>
            </a:r>
            <a:r>
              <a:rPr sz="142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Right:</a:t>
            </a:r>
            <a:r>
              <a:rPr sz="142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current divided by basic.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correction is design-dependent; it cannot be replaced by one constant scale factor.</a:t>
            </a:r>
          </a:p>
        </p:txBody>
      </p:sp>
    </p:spTree>
    <p:extLst>
      <p:ext uri="{BB962C8B-B14F-4D97-AF65-F5344CB8AC3E}">
        <p14:creationId xmlns:p14="http://schemas.microsoft.com/office/powerpoint/2010/main" val="142130169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CF00F6C-518B-482E-8439-20CB70C1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parity plot is an in-sample diagnostic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CEE0985-1569-494C-8A9D-68F4D45B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10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ed0e41566c4257"/>
          <a:stretch xmlns:a="http://schemas.openxmlformats.org/drawingml/2006/main"/>
        </p:blipFill>
        <p:spPr>
          <a:xfrm xmlns:a="http://schemas.openxmlformats.org/drawingml/2006/main">
            <a:off x="523875" y="1436793"/>
            <a:ext cx="11144250" cy="2746163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2D4B221-7D3D-4796-9927-04C791DA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381500"/>
            <a:ext cx="10607040" cy="2047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47625" rIns="76200" bIns="47625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spcAft>
                <a:spcPts val="7"/>
              </a:spcAft>
              <a:buNone/>
              <a:defRPr sz="138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388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How to read it:</a:t>
            </a:r>
            <a:r>
              <a:rPr sz="138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x is predicted load, y is measured load, and the dashed line is equality.</a:t>
            </a:r>
          </a:p>
          <a:p xmlns:a="http://schemas.openxmlformats.org/drawingml/2006/main">
            <a:pPr algn="ctr">
              <a:lnSpc>
                <a:spcPct val="104000"/>
              </a:lnSpc>
              <a:spcAft>
                <a:spcPts val="7"/>
              </a:spcAft>
              <a:buNone/>
              <a:defRPr sz="138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38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Color encodes the predicted branch; marker shape encodes the observed specimen or fixture note class.</a:t>
            </a:r>
          </a:p>
          <a:p xmlns:a="http://schemas.openxmlformats.org/drawingml/2006/main">
            <a:pPr algn="ctr">
              <a:lnSpc>
                <a:spcPct val="104000"/>
              </a:lnSpc>
              <a:spcAft>
                <a:spcPts val="7"/>
              </a:spcAft>
              <a:buNone/>
              <a:defRPr sz="138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388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Fitted parameters:</a:t>
            </a:r>
            <a:r>
              <a:rPr sz="138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σy = 66.83 MPa, k = 0.377, and τi = 16.76 MPa.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38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388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Claim ceiling:</a:t>
            </a:r>
            <a:r>
              <a:rPr sz="138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the same 15 beams set the parameters and appear in the plot. This shows fitted capacity, not held-out generalization.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01fafaaea4436d"/>
          <a:stretch xmlns:a="http://schemas.openxmlformats.org/drawingml/2006/main"/>
        </p:blipFill>
        <p:spPr>
          <a:xfrm xmlns:a="http://schemas.openxmlformats.org/drawingml/2006/main">
            <a:off x="523875" y="1436793"/>
            <a:ext cx="11144250" cy="274616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27432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CF00F6C-518B-482E-8439-20CB70C1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Calibrate parameters first; then freeze them for design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CEE0985-1569-494C-8A9D-68F4D45B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9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bb54e99df7425a"/>
          <a:stretch xmlns:a="http://schemas.openxmlformats.org/drawingml/2006/main"/>
        </p:blipFill>
        <p:spPr>
          <a:xfrm xmlns:a="http://schemas.openxmlformats.org/drawingml/2006/main">
            <a:off x="1377123" y="1333500"/>
            <a:ext cx="9437755" cy="3476625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2D4B221-7D3D-4796-9927-04C791DA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53000"/>
            <a:ext cx="10607040" cy="1619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47625" rIns="76200" bIns="47625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spcAft>
                <a:spcPts val="7"/>
              </a:spcAft>
              <a:buNone/>
              <a:defRPr sz="138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388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Parameters:</a:t>
            </a:r>
            <a:r>
              <a:rPr sz="138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σy controls bending and the yield cap, k controls effective length, and τi controls interface separation.</a:t>
            </a:r>
          </a:p>
          <a:p xmlns:a="http://schemas.openxmlformats.org/drawingml/2006/main">
            <a:pPr algn="ctr">
              <a:lnSpc>
                <a:spcPct val="104000"/>
              </a:lnSpc>
              <a:spcAft>
                <a:spcPts val="7"/>
              </a:spcAft>
              <a:buNone/>
              <a:defRPr sz="138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38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15-beam fit gives 66.83 MPa, 0.377, and 16.76 MPa. This same-data fit is not a held-out score.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388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388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With those values frozen, the 0.05 mm grid search returns b = 1.10 mm and Hw = 13.25 mm at 48.7 N/g predicted strength-to-estimated-mass.</a:t>
            </a:r>
          </a:p>
        </p:txBody>
      </p:sp>
    </p:spTree>
    <p:extLst>
      <p:ext uri="{BB962C8B-B14F-4D97-AF65-F5344CB8AC3E}">
        <p14:creationId xmlns:p14="http://schemas.microsoft.com/office/powerpoint/2010/main" val="172227432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2F23659-178E-4CA1-8955-27839CB6C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physics model is useful because its limits are explicit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5C69DCE-7FEB-447C-AD84-7CCD4291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958ABF5-1A0F-481C-BAEA-5C8A22284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04950"/>
            <a:ext cx="10424160" cy="495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47625" rIns="76200" bIns="47625" anchor="t">
            <a:noAutofit/>
          </a:bodyPr>
          <a:lstStyle xmlns:a="http://schemas.openxmlformats.org/drawingml/2006/main"/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11"/>
              </a:spcAft>
              <a:buNone/>
              <a:defRPr sz="165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It does provide</a:t>
            </a:r>
            <a:r>
              <a:rPr sz="165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a capacity estimate and a dominant-branch proxy for each design.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11"/>
              </a:spcAft>
              <a:buNone/>
              <a:defRPr sz="165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It does not provide</a:t>
            </a:r>
            <a:r>
              <a:rPr sz="165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a unique fracture diagnosis from a force–displacement trace.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11"/>
              </a:spcAft>
              <a:buNone/>
              <a:defRPr sz="165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Its calibration is conditional</a:t>
            </a:r>
            <a:r>
              <a:rPr sz="165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on this fixture, print campaign, and 15-beam dataset.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15"/>
              </a:spcAft>
              <a:buNone/>
              <a:defRPr sz="165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Its labels are least stable</a:t>
            </a:r>
            <a:r>
              <a:rPr sz="165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near intersections of capacity branches—the region an optimizer often favors.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Next lecture:</a:t>
            </a:r>
            <a:r>
              <a:rPr sz="1650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model the remaining discrepancy and uncertainty with a Gaussian Process; do not erase the physics.</a:t>
            </a:r>
          </a:p>
        </p:txBody>
      </p:sp>
    </p:spTree>
    <p:extLst>
      <p:ext uri="{BB962C8B-B14F-4D97-AF65-F5344CB8AC3E}">
        <p14:creationId xmlns:p14="http://schemas.microsoft.com/office/powerpoint/2010/main" val="179719409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4D41A3E-B095-40A8-A9FA-52783CED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The module adds evidence one decision at a time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6A7AF5A-C2D0-46E3-B530-A974A7FAD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19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3f7d5c2d60414a"/>
          <a:stretch xmlns:a="http://schemas.openxmlformats.org/drawingml/2006/main"/>
        </p:blipFill>
        <p:spPr>
          <a:xfrm xmlns:a="http://schemas.openxmlformats.org/drawingml/2006/main">
            <a:off x="4357688" y="1428750"/>
            <a:ext cx="3476625" cy="3476625"/>
          </a:xfrm>
          <a:prstGeom xmlns:a="http://schemas.openxmlformats.org/drawingml/2006/main" prst="rect">
            <a:avLst/>
          </a:prstGeom>
        </p:spPr>
      </p:pic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B4EC603-3BAC-47C6-8267-93EC890E2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95875"/>
            <a:ext cx="10607040" cy="1333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47625" rIns="76200" bIns="47625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spcAft>
                <a:spcPts val="7"/>
              </a:spcAft>
              <a:buNone/>
              <a:defRPr sz="1425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Beams 16 and 17:</a:t>
            </a:r>
            <a:r>
              <a:rPr sz="142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 frozen model responses, not new physical tests.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425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Your group beam is the new print-and-bend observation. Physics structures the decision; the added test reveals discrepancy and changes the next model.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CDB7EE-134B-48B6-939E-E139F5D7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00350"/>
            <a:ext cx="30956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2A0C84-0EC3-4B82-BE36-9F5B5363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9663" y="2800350"/>
            <a:ext cx="30956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E69909-251E-4CF1-98FA-56EBE7859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800350"/>
            <a:ext cx="30956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20620A-5CBA-4489-B13B-DB52FFB9D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5888" y="2800350"/>
            <a:ext cx="30956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D73451-CFB0-471C-AADE-6CC4FBC65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95500"/>
            <a:ext cx="1733550" cy="201930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5B5B58"/>
            </a:solidFill>
            <a:prstDash val="solid"/>
          </a:ln>
        </p:spPr>
        <p:txBody>
          <a:bodyPr xmlns:a="http://schemas.openxmlformats.org/drawingml/2006/main" wrap="square" lIns="95250" tIns="114300" rIns="952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spcAft>
                <a:spcPts val="10"/>
              </a:spcAft>
              <a:buNone/>
              <a:defRPr sz="1350">
                <a:solidFill>
                  <a:srgbClr val="3F3F3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3F3F3D"/>
                </a:solidFill>
                <a:latin typeface="Calibri"/>
                <a:ea typeface="Calibri"/>
                <a:cs typeface="Calibri"/>
              </a:rPr>
              <a:t>15 measured beams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>
                <a:solidFill>
                  <a:srgbClr val="3F3F3D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3F3F3D"/>
                </a:solidFill>
                <a:latin typeface="Calibri"/>
                <a:ea typeface="Calibri"/>
                <a:cs typeface="Calibri"/>
              </a:rPr>
              <a:t>calibrate the class physics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15F911-42DF-46F4-A97E-F8A421DB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95500"/>
            <a:ext cx="1733550" cy="201930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2A78D6"/>
            </a:solidFill>
            <a:prstDash val="solid"/>
          </a:ln>
        </p:spPr>
        <p:txBody>
          <a:bodyPr xmlns:a="http://schemas.openxmlformats.org/drawingml/2006/main" wrap="square" lIns="95250" tIns="114300" rIns="952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spcAft>
                <a:spcPts val="10"/>
              </a:spcAft>
              <a:buNone/>
              <a:defRPr sz="1350">
                <a:solidFill>
                  <a:srgbClr val="3F3F3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3F3F3D"/>
                </a:solidFill>
                <a:latin typeface="Calibri"/>
                <a:ea typeface="Calibri"/>
                <a:cs typeface="Calibri"/>
              </a:rPr>
              <a:t>Equation query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>
                <a:solidFill>
                  <a:srgbClr val="3F3F3D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3F3F3D"/>
                </a:solidFill>
                <a:latin typeface="Calibri"/>
                <a:ea typeface="Calibri"/>
                <a:cs typeface="Calibri"/>
              </a:rPr>
              <a:t>(1.10, 13.25)
475.7 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1C757A-74D3-40AB-8D9F-B5834D8B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2095500"/>
            <a:ext cx="1733550" cy="201930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2A78D6"/>
            </a:solidFill>
            <a:prstDash val="solid"/>
          </a:ln>
        </p:spPr>
        <p:txBody>
          <a:bodyPr xmlns:a="http://schemas.openxmlformats.org/drawingml/2006/main" wrap="square" lIns="95250" tIns="114300" rIns="952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spcAft>
                <a:spcPts val="10"/>
              </a:spcAft>
              <a:buNone/>
              <a:defRPr sz="1350">
                <a:solidFill>
                  <a:srgbClr val="3F3F3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3F3F3D"/>
                </a:solidFill>
                <a:latin typeface="Calibri"/>
                <a:ea typeface="Calibri"/>
                <a:cs typeface="Calibri"/>
              </a:rPr>
              <a:t>GP query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>
                <a:solidFill>
                  <a:srgbClr val="3F3F3D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3F3F3D"/>
                </a:solidFill>
                <a:latin typeface="Calibri"/>
                <a:ea typeface="Calibri"/>
                <a:cs typeface="Calibri"/>
              </a:rPr>
              <a:t>(1.00, 13.39)
445.8 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125B29-B65D-42C6-951B-CC79CC555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2338" y="2095500"/>
            <a:ext cx="1733550" cy="201930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C65911"/>
            </a:solidFill>
            <a:prstDash val="solid"/>
          </a:ln>
        </p:spPr>
        <p:txBody>
          <a:bodyPr xmlns:a="http://schemas.openxmlformats.org/drawingml/2006/main" wrap="square" lIns="95250" tIns="114300" rIns="952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spcAft>
                <a:spcPts val="10"/>
              </a:spcAft>
              <a:buNone/>
              <a:defRPr sz="1350">
                <a:solidFill>
                  <a:srgbClr val="3F3F3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3F3F3D"/>
                </a:solidFill>
                <a:latin typeface="Calibri"/>
                <a:ea typeface="Calibri"/>
                <a:cs typeface="Calibri"/>
              </a:rPr>
              <a:t>Group design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>
                <a:solidFill>
                  <a:srgbClr val="3F3F3D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3F3F3D"/>
                </a:solidFill>
                <a:latin typeface="Calibri"/>
                <a:ea typeface="Calibri"/>
                <a:cs typeface="Calibri"/>
              </a:rPr>
              <a:t>preregister
print + bend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4B21DA-C7A8-4B90-9C2E-3FDDF6597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095500"/>
            <a:ext cx="1733550" cy="201930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5B5B58"/>
            </a:solidFill>
            <a:prstDash val="solid"/>
          </a:ln>
        </p:spPr>
        <p:txBody>
          <a:bodyPr xmlns:a="http://schemas.openxmlformats.org/drawingml/2006/main" wrap="square" lIns="95250" tIns="114300" rIns="95250" bIns="1143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spcAft>
                <a:spcPts val="10"/>
              </a:spcAft>
              <a:buNone/>
              <a:defRPr sz="1350">
                <a:solidFill>
                  <a:srgbClr val="3F3F3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3F3F3D"/>
                </a:solidFill>
                <a:latin typeface="Calibri"/>
                <a:ea typeface="Calibri"/>
                <a:cs typeface="Calibri"/>
              </a:rPr>
              <a:t>Refit + redesign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>
                <a:solidFill>
                  <a:srgbClr val="3F3F3D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3F3F3D"/>
                </a:solidFill>
                <a:latin typeface="Calibri"/>
                <a:ea typeface="Calibri"/>
                <a:cs typeface="Calibri"/>
              </a:rPr>
              <a:t>add the real result
ask what moved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57F55B-1AE8-4E07-B524-6DB79843A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3053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4F94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74F94"/>
                </a:solidFill>
                <a:latin typeface="Calibri"/>
                <a:ea typeface="Calibri"/>
                <a:cs typeface="Calibri"/>
              </a:rPr>
              <a:t>one dataset, one new decision at a time</a:t>
            </a:r>
          </a:p>
        </p:txBody>
      </p:sp>
    </p:spTree>
    <p:extLst>
      <p:ext uri="{BB962C8B-B14F-4D97-AF65-F5344CB8AC3E}">
        <p14:creationId xmlns:p14="http://schemas.microsoft.com/office/powerpoint/2010/main" val="59205743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CFC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88B90EA-1F2A-4F12-A3D8-AA28ED0B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"/>
            <a:ext cx="106070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Pre-lab 1: turn equations into a testable model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E7569C7-2E2D-4727-BC1F-2435C32D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146304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8D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F8F4D32-6EEF-43BE-AFF9-81B4DF350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447800"/>
            <a:ext cx="10424160" cy="5095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47625" rIns="76200" bIns="47625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spcAft>
                <a:spcPts val="8"/>
              </a:spcAft>
              <a:buNone/>
              <a:defRPr sz="1463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463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Notebook: ME323 Module 1 — Pre-lab 1, Failure Modes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8"/>
              </a:spcAft>
              <a:buNone/>
              <a:defRPr sz="1463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463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reduce four force–displacement traces to strength, including the beam 9 fixture/twist event;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8"/>
              </a:spcAft>
              <a:buNone/>
              <a:defRPr sz="1463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463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code and unit-check the bending, printed-junction separation, and yield-capped LTB branches;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8"/>
              </a:spcAft>
              <a:buNone/>
              <a:defRPr sz="1463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463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treat 43.9 MPa as the starting bulk ceiling for τi—not a measured interface strength;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8"/>
              </a:spcAft>
              <a:buNone/>
              <a:defRPr sz="1463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463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calibrate σy (effective flexural strength), k (fixture effective-length factor), and τi (printed-interface shear strength);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8"/>
              </a:spcAft>
              <a:buNone/>
              <a:defRPr sz="1463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463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compare predicted and measured loads while keeping predicted branches separate from observed notes;</a:t>
            </a:r>
          </a:p>
          <a:p xmlns:a="http://schemas.openxmlformats.org/drawingml/2006/main">
            <a:pPr marL="28" indent="-14" algn="l">
              <a:lnSpc>
                <a:spcPct val="104000"/>
              </a:lnSpc>
              <a:spcAft>
                <a:spcPts val="13"/>
              </a:spcAft>
              <a:buNone/>
              <a:defRPr sz="1463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463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freeze the fitted parameters, then optimize predicted strength divided by estimated mass.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463">
                <a:solidFill>
                  <a:srgbClr val="0B0B0B"/>
                </a:solidFill>
                <a:latin typeface="Calibri"/>
                <a:ea typeface="Calibri"/>
                <a:cs typeface="Calibri"/>
              </a:defRPr>
            </a:pPr>
            <a:r>
              <a:rPr sz="1463" b="1">
                <a:solidFill>
                  <a:srgbClr val="0B0B0B"/>
                </a:solidFill>
                <a:latin typeface="Calibri"/>
                <a:ea typeface="Calibri"/>
                <a:cs typeface="Calibri"/>
              </a:rPr>
              <a:t>Bring one question about a variable, one about an assumption, and one about a mismatch.</a:t>
            </a:r>
          </a:p>
        </p:txBody>
      </p:sp>
    </p:spTree>
    <p:extLst>
      <p:ext uri="{BB962C8B-B14F-4D97-AF65-F5344CB8AC3E}">
        <p14:creationId xmlns:p14="http://schemas.microsoft.com/office/powerpoint/2010/main" val="66469398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2026-07-30T22:00:10.4910000Z</dcterms:created>
  <dcterms:modified xsi:type="dcterms:W3CDTF">2026-07-30T22:00:10.4910000Z</dcterms:modified>
</coreProperties>
</file>