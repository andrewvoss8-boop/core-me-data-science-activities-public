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gif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gif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gif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331720"/>
            <a:ext cx="12191695" cy="82296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514600"/>
            <a:ext cx="1051560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4400" b="1">
                <a:solidFill>
                  <a:srgbClr val="0B0B0B"/>
                </a:solidFill>
                <a:latin typeface="Calibri"/>
              </a:rPr>
              <a:t>From Data to Decisions Under Uncertainty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3977639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2A78D6"/>
                </a:solidFill>
                <a:latin typeface="Calibri"/>
              </a:rPr>
              <a:t>ME 323 Module 1 — Lecture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470916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52514E"/>
                </a:solidFill>
                <a:latin typeface="Calibri"/>
              </a:rPr>
              <a:t>A model that learns from sparse data and tells you how much it does not know.
Flow and examples adapted from Prof. Bilionis's data-science lecturebook.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0B0B"/>
                </a:solidFill>
                <a:latin typeface="Calibri"/>
              </a:rPr>
              <a:t>The equations overpredicted a strong beam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170432"/>
            <a:ext cx="1463040" cy="5486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554480"/>
            <a:ext cx="10424160" cy="4754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lvl="1">
              <a:spcAft>
                <a:spcPts val="1200"/>
              </a:spcAft>
            </a:pPr>
            <a:r>
              <a:rPr sz="1800" b="0">
                <a:solidFill>
                  <a:srgbClr val="0B0B0B"/>
                </a:solidFill>
                <a:latin typeface="Calibri"/>
              </a:rPr>
              <a:t>•  The three calibrated capacity equations selected b = 1.10 mm, H_web = 13.25 mm and predicted 48.7 N/g.</a:t>
            </a:r>
          </a:p>
          <a:p>
            <a:pPr algn="l" lvl="1">
              <a:spcAft>
                <a:spcPts val="1200"/>
              </a:spcAft>
            </a:pPr>
            <a:r>
              <a:rPr sz="1800" b="0">
                <a:solidFill>
                  <a:srgbClr val="0B0B0B"/>
                </a:solidFill>
                <a:latin typeface="Calibri"/>
              </a:rPr>
              <a:t>•  Ground-truth data from earlier tests gave 475.7 N = 37.48 N/g, about 23% below the equation prediction.</a:t>
            </a:r>
          </a:p>
          <a:p>
            <a:pPr algn="l" lvl="1">
              <a:spcAft>
                <a:spcPts val="1200"/>
              </a:spcAft>
            </a:pPr>
            <a:r>
              <a:rPr sz="1800" b="0">
                <a:solidFill>
                  <a:srgbClr val="0B0B0B"/>
                </a:solidFill>
                <a:latin typeface="Calibri"/>
              </a:rPr>
              <a:t>•  All three modeled capacities tie within about 1% there, so the design sits on a mode boundary.</a:t>
            </a:r>
          </a:p>
          <a:p>
            <a:pPr algn="l">
              <a:spcAft>
                <a:spcPts val="1200"/>
              </a:spcAft>
            </a:pPr>
            <a:r>
              <a:rPr sz="2000" b="0">
                <a:solidFill>
                  <a:srgbClr val="0B0B0B"/>
                </a:solidFill>
                <a:latin typeface="Calibri"/>
              </a:rPr>
              <a:t>The equations found a strong beam, but overpredicted its performance. Today's tool adds a statement of confidence to the point estimate.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0B0B"/>
                </a:solidFill>
                <a:latin typeface="Calibri"/>
              </a:rPr>
              <a:t>You already have most of this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170432"/>
            <a:ext cx="1463040" cy="5486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554480"/>
            <a:ext cx="10424160" cy="4754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2000" b="0">
                <a:solidFill>
                  <a:srgbClr val="0B0B0B"/>
                </a:solidFill>
                <a:latin typeface="Calibri"/>
              </a:rPr>
              <a:t>From ME 239:</a:t>
            </a:r>
          </a:p>
          <a:p>
            <a:pPr algn="l" lvl="1">
              <a:spcAft>
                <a:spcPts val="1200"/>
              </a:spcAft>
            </a:pPr>
            <a:r>
              <a:rPr sz="1800" b="0">
                <a:solidFill>
                  <a:srgbClr val="0B0B0B"/>
                </a:solidFill>
                <a:latin typeface="Calibri"/>
              </a:rPr>
              <a:t>•  Bayes' rule, Gaussian distribution</a:t>
            </a:r>
          </a:p>
          <a:p>
            <a:pPr algn="l" lvl="1">
              <a:spcAft>
                <a:spcPts val="1200"/>
              </a:spcAft>
            </a:pPr>
            <a:r>
              <a:rPr sz="1800" b="0">
                <a:solidFill>
                  <a:srgbClr val="0B0B0B"/>
                </a:solidFill>
                <a:latin typeface="Calibri"/>
              </a:rPr>
              <a:t>•  Multivariate Gaussian and covariance</a:t>
            </a:r>
          </a:p>
          <a:p>
            <a:pPr algn="l" lvl="1">
              <a:spcAft>
                <a:spcPts val="1200"/>
              </a:spcAft>
            </a:pPr>
            <a:r>
              <a:rPr sz="1800" b="0">
                <a:solidFill>
                  <a:srgbClr val="0B0B0B"/>
                </a:solidFill>
                <a:latin typeface="Calibri"/>
              </a:rPr>
              <a:t>•  Conditioning a Gaussian on data</a:t>
            </a:r>
          </a:p>
          <a:p>
            <a:pPr algn="l">
              <a:spcAft>
                <a:spcPts val="1200"/>
              </a:spcAft>
            </a:pPr>
            <a:r>
              <a:rPr sz="2000" b="0">
                <a:solidFill>
                  <a:srgbClr val="0B0B0B"/>
                </a:solidFill>
                <a:latin typeface="Calibri"/>
              </a:rPr>
              <a:t>New today, but only one step past 239:</a:t>
            </a:r>
          </a:p>
          <a:p>
            <a:pPr algn="l" lvl="1">
              <a:spcAft>
                <a:spcPts val="1200"/>
              </a:spcAft>
            </a:pPr>
            <a:r>
              <a:rPr sz="1800" b="0">
                <a:solidFill>
                  <a:srgbClr val="0B0B0B"/>
                </a:solidFill>
                <a:latin typeface="Calibri"/>
              </a:rPr>
              <a:t>•  Gaussian Process; acquisition functions (Bayesian optimization)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0B0B"/>
                </a:solidFill>
                <a:latin typeface="Calibri"/>
              </a:rPr>
              <a:t>Bayes, in one line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170432"/>
            <a:ext cx="1463040" cy="5486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bay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2447" y="2011680"/>
            <a:ext cx="8686800" cy="9170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97280" y="3385924"/>
            <a:ext cx="100584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1000"/>
              </a:spcAft>
            </a:pPr>
            <a:r>
              <a:rPr sz="1900" b="0">
                <a:solidFill>
                  <a:srgbClr val="0B0B0B"/>
                </a:solidFill>
                <a:latin typeface="Calibri"/>
              </a:rPr>
              <a:t>You start with a belief about beam strength. You test a beam. You update the belief.</a:t>
            </a:r>
          </a:p>
          <a:p>
            <a:pPr algn="ctr">
              <a:spcAft>
                <a:spcPts val="1000"/>
              </a:spcAft>
            </a:pPr>
            <a:r>
              <a:rPr sz="1900" b="0">
                <a:solidFill>
                  <a:srgbClr val="0B0B0B"/>
                </a:solidFill>
                <a:latin typeface="Calibri"/>
              </a:rPr>
              <a:t>Prior: belief before the test. Likelihood: compatibility with the result. Posterior: belief after the test.</a:t>
            </a:r>
          </a:p>
          <a:p>
            <a:pPr algn="ctr">
              <a:spcAft>
                <a:spcPts val="1000"/>
              </a:spcAft>
            </a:pPr>
            <a:r>
              <a:rPr sz="1900" b="0">
                <a:solidFill>
                  <a:srgbClr val="0B0B0B"/>
                </a:solidFill>
                <a:latin typeface="Calibri"/>
              </a:rPr>
              <a:t>Carry a distribution over unknown beam strength, not a single guess.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0B0B"/>
                </a:solidFill>
                <a:latin typeface="Calibri"/>
              </a:rPr>
              <a:t>A Gaussian is a belief about one beam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170432"/>
            <a:ext cx="1463040" cy="5486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_gauss_strength_repea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89632" y="1371600"/>
            <a:ext cx="8012430" cy="4343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5788152"/>
            <a:ext cx="10607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>
                <a:solidFill>
                  <a:srgbClr val="0B0B0B"/>
                </a:solidFill>
                <a:latin typeface="Calibri"/>
              </a:rPr>
              <a:t>Four repeat tests at one design give mean 558.2 N and fitted scatter 7.6 N, about 1.4%.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245352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150" b="0">
                <a:solidFill>
                  <a:srgbClr val="52514E"/>
                </a:solidFill>
                <a:latin typeface="Calibri"/>
              </a:rPr>
              <a:t>Pooled campaign repeats give about 4.4% with session/printer structure. The class uses 3% as a working assumption and checks its effect.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0B0B"/>
                </a:solidFill>
                <a:latin typeface="Calibri"/>
              </a:rPr>
              <a:t>Two beams at once: covariance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170432"/>
            <a:ext cx="1463040" cy="5486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_mvn_corre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7401" y="1371600"/>
            <a:ext cx="9696893" cy="4343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5788152"/>
            <a:ext cx="10607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>
                <a:solidFill>
                  <a:srgbClr val="0B0B0B"/>
                </a:solidFill>
                <a:latin typeface="Calibri"/>
              </a:rPr>
              <a:t>Nearby designs share material, geometry, and physics, so their strengths move together.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245352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150" b="0">
                <a:solidFill>
                  <a:srgbClr val="52514E"/>
                </a:solidFill>
                <a:latin typeface="Calibri"/>
              </a:rPr>
              <a:t>The covariance matrix writes that down. This is the piece the GP is built on.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0B0B"/>
                </a:solidFill>
                <a:latin typeface="Calibri"/>
              </a:rPr>
              <a:t>Conditioning: measure one, update the other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170432"/>
            <a:ext cx="1463040" cy="5486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gif_conditioning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5763" y="1371600"/>
            <a:ext cx="9980168" cy="4343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5788152"/>
            <a:ext cx="10607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>
                <a:solidFill>
                  <a:srgbClr val="0B0B0B"/>
                </a:solidFill>
                <a:latin typeface="Calibri"/>
              </a:rPr>
              <a:t>Measure beam A and the joint Gaussian conditions: belief about B shifts and tightens.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245352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150" b="0">
                <a:solidFill>
                  <a:srgbClr val="52514E"/>
                </a:solidFill>
                <a:latin typeface="Calibri"/>
              </a:rPr>
              <a:t>You did this algebra in ME 239. Everything today is this move, repeated.  (animated in slideshow)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0B0B"/>
                </a:solidFill>
                <a:latin typeface="Calibri"/>
              </a:rPr>
              <a:t>A GP links predictions across many designs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170432"/>
            <a:ext cx="1463040" cy="5486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gif_mvn_to_gp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7494" y="1371600"/>
            <a:ext cx="7676706" cy="4343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5788152"/>
            <a:ext cx="10607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>
                <a:solidFill>
                  <a:srgbClr val="0B0B0B"/>
                </a:solidFill>
                <a:latin typeface="Calibri"/>
              </a:rPr>
              <a:t>The same joint-Gaussian update can cover 2 designs or 120.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245352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150" b="0">
                <a:solidFill>
                  <a:srgbClr val="52514E"/>
                </a:solidFill>
                <a:latin typeface="Calibri"/>
              </a:rPr>
              <a:t>A kernel makes a test influence nearby designs more than distant ones.  (animated in slideshow)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0B0B"/>
                </a:solidFill>
                <a:latin typeface="Calibri"/>
              </a:rPr>
              <a:t>A Gaussian Process, before and after data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170432"/>
            <a:ext cx="1463040" cy="5486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_gp_prior_posteri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3363" y="1371600"/>
            <a:ext cx="10504967" cy="4343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5788152"/>
            <a:ext cx="10607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>
                <a:solidFill>
                  <a:srgbClr val="0B0B0B"/>
                </a:solidFill>
                <a:latin typeface="Calibri"/>
              </a:rPr>
              <a:t>Before data the kernel proposes candidate curves; each test kills the ones that disagree.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245352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150" b="0">
                <a:solidFill>
                  <a:srgbClr val="52514E"/>
                </a:solidFill>
                <a:latin typeface="Calibri"/>
              </a:rPr>
              <a:t>The module models log(str/w): exp(mu_log) is the posterior median in N/g; the band is conditional uncertainty.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0B0B"/>
                </a:solidFill>
                <a:latin typeface="Calibri"/>
              </a:rPr>
              <a:t>Each test reshapes nearby predictions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170432"/>
            <a:ext cx="1463040" cy="5486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_gp_current_campaign_sli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26465" y="1371600"/>
            <a:ext cx="7538764" cy="4343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5788152"/>
            <a:ext cx="10607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>
                <a:solidFill>
                  <a:srgbClr val="0B0B0B"/>
                </a:solidFill>
                <a:latin typeface="Calibri"/>
              </a:rPr>
              <a:t>Current class-campaign data on a thin-web slice: the band narrows near tested beams.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245352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150" b="0">
                <a:solidFill>
                  <a:srgbClr val="52514E"/>
                </a:solidFill>
                <a:latin typeface="Calibri"/>
              </a:rPr>
              <a:t>The band stays wide where the model has less support.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0B0B"/>
                </a:solidFill>
                <a:latin typeface="Calibri"/>
              </a:rPr>
              <a:t>The kernel is a modeling choice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170432"/>
            <a:ext cx="1463040" cy="5486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_kernel_lengthsca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327" y="1371600"/>
            <a:ext cx="10607040" cy="338327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4828031"/>
            <a:ext cx="10607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>
                <a:solidFill>
                  <a:srgbClr val="0B0B0B"/>
                </a:solidFill>
                <a:latin typeface="Calibri"/>
              </a:rPr>
              <a:t>The length scale answers: how far does one test's influence reach?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285231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150" b="0">
                <a:solidFill>
                  <a:srgbClr val="52514E"/>
                </a:solidFill>
                <a:latin typeface="Calibri"/>
              </a:rPr>
              <a:t>No single right answer; there are defensible and indefensible ones.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0B0B"/>
                </a:solidFill>
                <a:latin typeface="Calibri"/>
              </a:rPr>
              <a:t>Noise changes both the fit and its uncertainty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170432"/>
            <a:ext cx="1463040" cy="5486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_noise_uncertainty_shared_sca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95372" y="1371600"/>
            <a:ext cx="7600950" cy="4343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5788152"/>
            <a:ext cx="10607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>
                <a:solidFill>
                  <a:srgbClr val="0B0B0B"/>
                </a:solidFill>
                <a:latin typeface="Calibri"/>
              </a:rPr>
              <a:t>Pre-lab 2 refits at 1%, 3%, and 10% using shared row-wise color scales.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245352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150" b="0">
                <a:solidFill>
                  <a:srgbClr val="52514E"/>
                </a:solidFill>
                <a:latin typeface="Calibri"/>
              </a:rPr>
              <a:t>The 1% fit recommends (1.58, 14.88); the 3% and 10% fits recommend (1.00, 13.39).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0B0B"/>
                </a:solidFill>
                <a:latin typeface="Calibri"/>
              </a:rPr>
              <a:t>Epistemic and aleatory uncertainty do different jobs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170432"/>
            <a:ext cx="1463040" cy="5486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554480"/>
            <a:ext cx="10424160" cy="4754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lvl="1">
              <a:spcAft>
                <a:spcPts val="1200"/>
              </a:spcAft>
            </a:pPr>
            <a:r>
              <a:rPr sz="1800" b="0">
                <a:solidFill>
                  <a:srgbClr val="0B0B0B"/>
                </a:solidFill>
                <a:latin typeface="Calibri"/>
              </a:rPr>
              <a:t>•  Epistemic: uncertainty about the underlying average trend because tests are sparse. An informative new beam can reduce it.</a:t>
            </a:r>
          </a:p>
          <a:p>
            <a:pPr algn="l" lvl="1">
              <a:spcAft>
                <a:spcPts val="1200"/>
              </a:spcAft>
            </a:pPr>
            <a:r>
              <a:rPr sz="1800" b="0">
                <a:solidFill>
                  <a:srgbClr val="0B0B0B"/>
                </a:solidFill>
                <a:latin typeface="Calibri"/>
              </a:rPr>
              <a:t>•  Aleatory: print-to-print and test-to-test scatter at one nominal design. Testing another location does not remove it.</a:t>
            </a:r>
          </a:p>
          <a:p>
            <a:pPr algn="l" lvl="1">
              <a:spcAft>
                <a:spcPts val="1200"/>
              </a:spcAft>
            </a:pPr>
            <a:r>
              <a:rPr sz="1800" b="0">
                <a:solidFill>
                  <a:srgbClr val="0B0B0B"/>
                </a:solidFill>
                <a:latin typeface="Calibri"/>
              </a:rPr>
              <a:t>•  For one future observation in log space: sigma_total = sqrt(sigma_epi^2 + r^2), with r = 0.03.</a:t>
            </a:r>
          </a:p>
          <a:p>
            <a:pPr algn="l">
              <a:spcAft>
                <a:spcPts val="1200"/>
              </a:spcAft>
            </a:pPr>
            <a:r>
              <a:rPr sz="2000" b="0">
                <a:solidFill>
                  <a:srgbClr val="0B0B0B"/>
                </a:solidFill>
                <a:latin typeface="Calibri"/>
              </a:rPr>
              <a:t>MUI and EI use epistemic sigma because they value learnable uncertainty. A reliability bound for one future printed beam uses total sigma.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0B0B"/>
                </a:solidFill>
                <a:latin typeface="Calibri"/>
              </a:rPr>
              <a:t>One dial balances performance and uncertainty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170432"/>
            <a:ext cx="1463040" cy="5486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mu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98283" y="1371600"/>
            <a:ext cx="4995128" cy="777240"/>
          </a:xfrm>
          <a:prstGeom prst="rect">
            <a:avLst/>
          </a:prstGeom>
        </p:spPr>
      </p:pic>
      <p:pic>
        <p:nvPicPr>
          <p:cNvPr id="5" name="Picture 4" descr="fig_explore_explo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00050" y="2286000"/>
            <a:ext cx="4591594" cy="33832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5742432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150" b="0">
                <a:solidFill>
                  <a:srgbClr val="52514E"/>
                </a:solidFill>
                <a:latin typeface="Calibri"/>
              </a:rPr>
              <a:t>a(x): acquisition-function score; mu(x): predicted log(str/w); sigma(x): epistemic uncertainty; psi: how strongly uncertainty affects the choice.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0B0B"/>
                </a:solidFill>
                <a:latin typeface="Calibri"/>
              </a:rPr>
              <a:t>The loop: Bayesian optimization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170432"/>
            <a:ext cx="1463040" cy="5486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gif_bo_mui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0171" y="1371600"/>
            <a:ext cx="5691351" cy="4343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5788152"/>
            <a:ext cx="10607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>
                <a:solidFill>
                  <a:srgbClr val="0B0B0B"/>
                </a:solidFill>
                <a:latin typeface="Calibri"/>
              </a:rPr>
              <a:t>Fit, evaluate the acquisition function, choose the design with the highest score, test, and refit.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245352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150" b="0">
                <a:solidFill>
                  <a:srgbClr val="52514E"/>
                </a:solidFill>
                <a:latin typeface="Calibri"/>
              </a:rPr>
              <a:t>Seven tests, no gradient, no formula for the dip.  (animated in slideshow)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0B0B"/>
                </a:solidFill>
                <a:latin typeface="Calibri"/>
              </a:rPr>
              <a:t>EI weighs the chance and size of a win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170432"/>
            <a:ext cx="1463040" cy="5486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_mui_ei_cur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327" y="1371600"/>
            <a:ext cx="10607040" cy="423980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5684561"/>
            <a:ext cx="10607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>
                <a:solidFill>
                  <a:srgbClr val="0B0B0B"/>
                </a:solidFill>
                <a:latin typeface="Calibri"/>
              </a:rPr>
              <a:t>EI asks how much a new test would beat the best tested beam so far, on average.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141761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150" b="0">
                <a:solidFill>
                  <a:srgbClr val="52514E"/>
                </a:solidFill>
                <a:latin typeface="Calibri"/>
              </a:rPr>
              <a:t>Increasing xi often favors less-certain regions, but does not guarantee a more exploratory recommendation.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0B0B"/>
                </a:solidFill>
                <a:latin typeface="Calibri"/>
              </a:rPr>
              <a:t>Zoom out: spending a test budget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170432"/>
            <a:ext cx="1463040" cy="5486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554480"/>
            <a:ext cx="10424160" cy="4754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2100" b="0">
                <a:solidFill>
                  <a:srgbClr val="0B0B0B"/>
                </a:solidFill>
                <a:latin typeface="Calibri"/>
              </a:rPr>
              <a:t>Each print-and-test costs a machine slot, a test engineer hour, and days of queue. The class gets two pieces of ground-truth data from earlier tests through the frozen staff model, and each group gets one real print.</a:t>
            </a:r>
          </a:p>
          <a:p>
            <a:pPr algn="l">
              <a:spcAft>
                <a:spcPts val="1200"/>
              </a:spcAft>
            </a:pPr>
            <a:r>
              <a:rPr sz="2100" b="0">
                <a:solidFill>
                  <a:srgbClr val="0B0B0B"/>
                </a:solidFill>
                <a:latin typeface="Calibri"/>
              </a:rPr>
              <a:t>Optimal experimental design is the batch version of the acquisition question: given N tests, which set teaches the most or finds the best fastest?</a:t>
            </a:r>
          </a:p>
          <a:p>
            <a:pPr algn="l">
              <a:spcAft>
                <a:spcPts val="1200"/>
              </a:spcAft>
            </a:pPr>
            <a:r>
              <a:rPr sz="2100" b="0">
                <a:solidFill>
                  <a:srgbClr val="0B0B0B"/>
                </a:solidFill>
                <a:latin typeface="Calibri"/>
              </a:rPr>
              <a:t>Choosing the next test is the engineering decision.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0B0B"/>
                </a:solidFill>
                <a:latin typeface="Calibri"/>
              </a:rPr>
              <a:t>Physics-informed GP: the two tracks meet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170432"/>
            <a:ext cx="1463040" cy="5486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_decision_map_4pa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86211" y="1371600"/>
            <a:ext cx="6019271" cy="4343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5788152"/>
            <a:ext cx="10607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>
                <a:solidFill>
                  <a:srgbClr val="0B0B0B"/>
                </a:solidFill>
                <a:latin typeface="Calibri"/>
              </a:rPr>
              <a:t>A vanilla GP sees geometry only. A physics-informed GP can also receive signals from the calibrated capacity equations.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245352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150" b="0">
                <a:solidFill>
                  <a:srgbClr val="52514E"/>
                </a:solidFill>
                <a:latin typeface="Calibri"/>
              </a:rPr>
              <a:t>Submission 1 compares both approaches rather than assuming either one must win.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0B0B"/>
                </a:solidFill>
                <a:latin typeface="Calibri"/>
              </a:rPr>
              <a:t>Decide first; run sensitivity checks afterward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170432"/>
            <a:ext cx="1463040" cy="5486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554480"/>
            <a:ext cx="10424160" cy="4754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1900" b="0">
                <a:solidFill>
                  <a:srgbClr val="0B0B0B"/>
                </a:solidFill>
                <a:latin typeface="Calibri"/>
              </a:rPr>
              <a:t>You will meet six modeling "knobs" in Submission 1. Do not treat them as six equal choices.</a:t>
            </a:r>
          </a:p>
          <a:p>
            <a:pPr algn="l" lvl="1">
              <a:spcAft>
                <a:spcPts val="1200"/>
              </a:spcAft>
            </a:pPr>
            <a:r>
              <a:rPr sz="1700" b="0">
                <a:solidFill>
                  <a:srgbClr val="0B0B0B"/>
                </a:solidFill>
                <a:latin typeface="Calibri"/>
              </a:rPr>
              <a:t>•  Students decide: how physics enters the model and the risk posture — how predicted performance and uncertainty affect the choice.</a:t>
            </a:r>
          </a:p>
          <a:p>
            <a:pPr algn="l" lvl="1">
              <a:spcAft>
                <a:spcPts val="1200"/>
              </a:spcAft>
            </a:pPr>
            <a:r>
              <a:rPr sz="1700" b="0">
                <a:solidFill>
                  <a:srgbClr val="0B0B0B"/>
                </a:solidFill>
                <a:latin typeface="Calibri"/>
              </a:rPr>
              <a:t>•  Students check afterward: kernel, noise, and target-scale sensitivity.</a:t>
            </a:r>
          </a:p>
          <a:p>
            <a:pPr algn="l">
              <a:spcAft>
                <a:spcPts val="1200"/>
              </a:spcAft>
            </a:pPr>
            <a:r>
              <a:rPr sz="1900" b="0">
                <a:solidFill>
                  <a:srgbClr val="0B0B0B"/>
                </a:solidFill>
                <a:latin typeface="Calibri"/>
              </a:rPr>
              <a:t>If reasonable assumptions move the recommendation, report that instability. If they point to the same neighborhood, report local robustness. An unstable result can justify using a test to reduce uncertainty.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0B0B"/>
                </a:solidFill>
                <a:latin typeface="Calibri"/>
              </a:rPr>
              <a:t>First compare what physics and the GP predict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170432"/>
            <a:ext cx="1463040" cy="5486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_decision_map_4pa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4613" y="1371600"/>
            <a:ext cx="5702467" cy="41148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5559552"/>
            <a:ext cx="10607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>
                <a:solidFill>
                  <a:srgbClr val="0B0B0B"/>
                </a:solidFill>
                <a:latin typeface="Calibri"/>
              </a:rPr>
              <a:t>The top row compares calibrated physics and the GP posterior median on the same design axes.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0B0B"/>
                </a:solidFill>
                <a:latin typeface="Calibri"/>
              </a:rPr>
              <a:t>Then inspect disagreement and epistemic uncertainty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170432"/>
            <a:ext cx="1463040" cy="5486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_decision_map_4pa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4613" y="1371600"/>
            <a:ext cx="5702467" cy="41148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5559552"/>
            <a:ext cx="10607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>
                <a:solidFill>
                  <a:srgbClr val="0B0B0B"/>
                </a:solidFill>
                <a:latin typeface="Calibri"/>
              </a:rPr>
              <a:t>The bottom row shows where the models disagree and where epistemic uncertainty remains large.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0B0B"/>
                </a:solidFill>
                <a:latin typeface="Calibri"/>
              </a:rPr>
              <a:t>The activity from here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170432"/>
            <a:ext cx="1463040" cy="5486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554480"/>
            <a:ext cx="10424160" cy="4754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lvl="1">
              <a:spcAft>
                <a:spcPts val="1200"/>
              </a:spcAft>
            </a:pPr>
            <a:r>
              <a:rPr sz="1900" b="0">
                <a:solidFill>
                  <a:srgbClr val="0B0B0B"/>
                </a:solidFill>
                <a:latin typeface="Calibri"/>
              </a:rPr>
              <a:t>•  Pre-lab 2: fit the GP, write MUI (and EI), work the noise assumption, find the GP-recommended beam.</a:t>
            </a:r>
          </a:p>
          <a:p>
            <a:pPr algn="l" lvl="1">
              <a:spcAft>
                <a:spcPts val="1200"/>
              </a:spcAft>
            </a:pPr>
            <a:r>
              <a:rPr sz="1900" b="0">
                <a:solidFill>
                  <a:srgbClr val="0B0B0B"/>
                </a:solidFill>
                <a:latin typeface="Calibri"/>
              </a:rPr>
              <a:t>•  Two class results: add ground-truth data from earlier tests for the equation design and the GP design — the same two beams for everyone.</a:t>
            </a:r>
          </a:p>
          <a:p>
            <a:pPr algn="l" lvl="1">
              <a:spcAft>
                <a:spcPts val="1200"/>
              </a:spcAft>
            </a:pPr>
            <a:r>
              <a:rPr sz="1900" b="0">
                <a:solidFill>
                  <a:srgbClr val="0B0B0B"/>
                </a:solidFill>
                <a:latin typeface="Calibri"/>
              </a:rPr>
              <a:t>•  Submission 1: combine physics, GP, and the two new points; pick the beam you will print; defend it in the memo.</a:t>
            </a:r>
          </a:p>
          <a:p>
            <a:pPr algn="l" lvl="1">
              <a:spcAft>
                <a:spcPts val="1200"/>
              </a:spcAft>
            </a:pPr>
            <a:r>
              <a:rPr sz="1900" b="0">
                <a:solidFill>
                  <a:srgbClr val="0B0B0B"/>
                </a:solidFill>
                <a:latin typeface="Calibri"/>
              </a:rPr>
              <a:t>•  Print, test, reflect, redesign: Submission 2 folds your own test result back into the model and asks what it changes.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0B0B"/>
                </a:solidFill>
                <a:latin typeface="Calibri"/>
              </a:rPr>
              <a:t>Before next time: Pre-lab 2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170432"/>
            <a:ext cx="1463040" cy="5486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554480"/>
            <a:ext cx="10424160" cy="4754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2000" b="0">
                <a:solidFill>
                  <a:srgbClr val="0B0B0B"/>
                </a:solidFill>
                <a:latin typeface="Calibri"/>
              </a:rPr>
              <a:t>In ME323_Module1_Prelab2_ML:</a:t>
            </a:r>
          </a:p>
          <a:p>
            <a:pPr algn="l" lvl="1">
              <a:spcAft>
                <a:spcPts val="1200"/>
              </a:spcAft>
            </a:pPr>
            <a:r>
              <a:rPr sz="1800" b="0">
                <a:solidFill>
                  <a:srgbClr val="0B0B0B"/>
                </a:solidFill>
                <a:latin typeface="Calibri"/>
              </a:rPr>
              <a:t>•  warm up by rebuilding the GP from ME 239's Normal-fit in four small steps (fit one Normal, covariance, conditioning, many beams at once),</a:t>
            </a:r>
          </a:p>
          <a:p>
            <a:pPr algn="l" lvl="1">
              <a:spcAft>
                <a:spcPts val="1200"/>
              </a:spcAft>
            </a:pPr>
            <a:r>
              <a:rPr sz="1800" b="0">
                <a:solidFill>
                  <a:srgbClr val="0B0B0B"/>
                </a:solidFill>
                <a:latin typeface="Calibri"/>
              </a:rPr>
              <a:t>•  compare vanilla GP setups and read posterior median, epistemic uncertainty, and total predictive uncertainty,</a:t>
            </a:r>
          </a:p>
          <a:p>
            <a:pPr algn="l" lvl="1">
              <a:spcAft>
                <a:spcPts val="1200"/>
              </a:spcAft>
            </a:pPr>
            <a:r>
              <a:rPr sz="1800" b="0">
                <a:solidFill>
                  <a:srgbClr val="0B0B0B"/>
                </a:solidFill>
                <a:latin typeface="Calibri"/>
              </a:rPr>
              <a:t>•  write both MUI and EI,</a:t>
            </a:r>
          </a:p>
          <a:p>
            <a:pPr algn="l" lvl="1">
              <a:spcAft>
                <a:spcPts val="1200"/>
              </a:spcAft>
            </a:pPr>
            <a:r>
              <a:rPr sz="1800" b="0">
                <a:solidFill>
                  <a:srgbClr val="0B0B0B"/>
                </a:solidFill>
                <a:latin typeface="Calibri"/>
              </a:rPr>
              <a:t>•  refit under 1% / 3% / 10% noise and note what moves,</a:t>
            </a:r>
          </a:p>
          <a:p>
            <a:pPr algn="l" lvl="1">
              <a:spcAft>
                <a:spcPts val="1200"/>
              </a:spcAft>
            </a:pPr>
            <a:r>
              <a:rPr sz="1800" b="0">
                <a:solidFill>
                  <a:srgbClr val="0B0B0B"/>
                </a:solidFill>
                <a:latin typeface="Calibri"/>
              </a:rPr>
              <a:t>•  record the locked class design: b = 1.00 mm, H_web = 13.39 mm, posterior median 36.7 N/g.</a:t>
            </a:r>
          </a:p>
          <a:p>
            <a:pPr algn="l">
              <a:spcAft>
                <a:spcPts val="1200"/>
              </a:spcAft>
            </a:pPr>
            <a:r>
              <a:rPr sz="2000" b="0">
                <a:solidFill>
                  <a:srgbClr val="0B0B0B"/>
                </a:solidFill>
                <a:latin typeface="Calibri"/>
              </a:rPr>
              <a:t>That beam is the class's second ground-truth data point from earlier tests. Bring your rationale, not just the number.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