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gi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B0B0B"/>
                </a:solidFill>
                <a:latin typeface="Calibri"/>
              </a:rPr>
              <a:t>From Data to Decisions Under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977639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78D6"/>
                </a:solidFill>
                <a:latin typeface="Calibri"/>
              </a:rPr>
              <a:t>ME 323 Module 1 — Lecture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A model that learns from sparse data and tells you how much it does not know.
Flow and examples adapted from Prof. Bilionis's data-science lecturebook.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Where Pre-lab 1 left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You coded three capacity branches — flexural yield, junction shear-flow separation, LTB — calibrated (sigma_y, k, tau_i), and took the minimum: one capacity number per design.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The parity plot showed where that number holds and where it misses.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Your optimizer picked b = 1.10, H_web = 13.25 mm: predicted 48.7 N/g. Staff queried the oracle — a frozen model fit to a prior campaign of real bend tests, standing in for the testing machine — and it returned 482.6 N = 38.02 N/g on the estimated-mass basis. There all three mode capacities tie within ~1%, so the 'LTB' proxy is a knife-edge call.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The physics gave you a point estimate sitting exactly on a mode boundary — the region you trust it least. The missing ingredient is a statement of confidence.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You already have most of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From ME 239: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Bayes' rule, Gaussian distribution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Multivariate Gaussian and covariance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Conditioning a Gaussian on data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New today, but only one step past 239: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Gaussian Process; acquisition functions (Bayesian optimization)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Bayes, in one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2011680"/>
            <a:ext cx="8686800" cy="9170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3385924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You start with a belief about beam strength. You test a beam. You update the belief.</a:t>
            </a:r>
          </a:p>
          <a:p>
            <a:pPr algn="ctr">
              <a:spcAft>
                <a:spcPts val="10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Carry a distribution over the unknown strength surface, not a single guess.</a:t>
            </a:r>
          </a:p>
          <a:p>
            <a:pPr algn="ctr">
              <a:spcAft>
                <a:spcPts val="10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Every slide that follows is this line, applied to beams.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A Gaussian is a belief about one beam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gauss_str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372" y="1371600"/>
            <a:ext cx="760095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881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Where does 3% come from? Four repeat prints at (1.3, 12.8) spanned 548.6-566.1 N; pooled over all repeats the scatter runs ~4.4% with session/printer structure. 3% is the stated class working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Two beams at once: covariance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mvn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401" y="1371600"/>
            <a:ext cx="9696893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8815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Nearby designs share material, geometry, and physics, so their strengths move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453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The covariance matrix writes that down. This is the piece the GP is built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Conditioning: measure one, update the other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f_conditionin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63" y="1371600"/>
            <a:ext cx="9980168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8815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Measure beam A and the joint Gaussian conditions: belief about B shifts and tightens.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453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You did this algebra in ME 239. Everything today is this move, repeated.  (animated in slideshow)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A function is a long Gaussian vector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f_mvn_to_g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94" y="1371600"/>
            <a:ext cx="7676706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8815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Strength at 2 designs is a 2D Gaussian; at 120 designs, a 120-D Gaussian. Connect the dots and it is a function.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453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A kernel fills in the covariances: nearby beams correlate, distant ones do not.  (animated in slideshow)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A Gaussian Process, before and after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gp_prior_pos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63" y="1371600"/>
            <a:ext cx="10504967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8815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Before data the kernel proposes candidate curves; each test kills the ones that disagree.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453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The module models log(str/w): exp(mu_log) is the posterior median in N/g; the band is conditional uncertainty.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Watch it learn, one beam at a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f_gp_learning_beam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399" y="1371600"/>
            <a:ext cx="6524897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8815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The band collapses where beams land and stays wide where nothing has been 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453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Earlier span-200 campaign; rebuilt from the new 44-beam dataset when testing finishes.  (animated in slideshow)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The kernel is a modeling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kernel_length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371600"/>
            <a:ext cx="10607040" cy="33832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828031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The length scale answers: how far does one test's influence reach?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85231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No single right answer; there are defensible and indefensible 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So is the noise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noise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371600"/>
            <a:ext cx="10607040" cy="33832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828031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We assume 3% as the class working value. Pre-lab 2 refits at 1%, 3%, and 10%.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85231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The recommendation does not move: 1%, 3%, and 10% all pick (1.00, 13.39) — the untested thin-b strip the widened box opened. Sensitivity evidence, not proof of the noise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Epistemic and aleatory uncertainty do different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Epistemic: uncertainty about the latent surface because tests are sparse. Informative beams can reduce it.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Aleatory: print-to-print and test-to-test scatter at one nominal design. Another location does not remove it.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For one future observation in log space: sigma_total = sqrt(sigma_epi^2 + r^2), with r = 0.03.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MUI and EI use epistemic sigma because they value learnable uncertainty. A reliability bound for one future printed beam uses total sigma.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Explore vs exploit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283" y="1371600"/>
            <a:ext cx="4995128" cy="777240"/>
          </a:xfrm>
          <a:prstGeom prst="rect">
            <a:avLst/>
          </a:prstGeom>
        </p:spPr>
      </p:pic>
      <p:pic>
        <p:nvPicPr>
          <p:cNvPr id="5" name="Picture 4" descr="fig_explore_explo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050" y="2286000"/>
            <a:ext cx="4591594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Exploit: test where the posterior median is highest. Explore: test where epistemic uncertainty is widest. MUI (maximum upper interval) uses latent log space.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The loop: Bayesian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f_bo_mu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171" y="1371600"/>
            <a:ext cx="5691351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8815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Fit, pick the acquisition argmax, test, refit. It probes the thin-web corner once, learns the dip, settles on the peak.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453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Seven tests, no gradient, no formula for the dip.  (animated in slideshow)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Expected Improvement, the other dial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>
                <a:solidFill>
                  <a:srgbClr val="0B0B0B"/>
                </a:solidFill>
                <a:latin typeface="Calibri"/>
              </a:rPr>
              <a:t>EI asks: by how much would a new test beat the best beam so far, on average?</a:t>
            </a:r>
          </a:p>
          <a:p>
            <a:pPr algn="l" lvl="1"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accounts for both latent mean mu and epistemic uncertainty sigma, like MUI,</a:t>
            </a:r>
          </a:p>
          <a:p>
            <a:pPr algn="l" lvl="1"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but weighs improvement, so it stops caring about regions that cannot win,</a:t>
            </a:r>
          </a:p>
          <a:p>
            <a:pPr algn="l" lvl="1"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and it has its own dial, xi: an improvement threshold. xi = 0 lets the probabilities trade on their own; larger xi counts only wins that clear the incumbent by that margin, pushing exploration.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0B0B0B"/>
                </a:solidFill>
                <a:latin typeface="Calibri"/>
              </a:rPr>
              <a:t>MUI and EI can point at different next beams. The choice encodes your appetite for risk; Pre-lab 2 has you code both.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Zoom out: spending a test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>
                <a:solidFill>
                  <a:srgbClr val="0B0B0B"/>
                </a:solidFill>
                <a:latin typeface="Calibri"/>
              </a:rPr>
              <a:t>Each print-and-test costs a machine slot, a test engineer hour, and days of queue. The class gets two oracle queries — answered by the frozen staff model, cheap because the prior campaign already paid for that information — and each group gets one real print.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0B0B0B"/>
                </a:solidFill>
                <a:latin typeface="Calibri"/>
              </a:rPr>
              <a:t>Optimal experimental design is the batch version of the acquisition question: given N tests, which set teaches the most or finds the best fastest?</a:t>
            </a:r>
          </a:p>
          <a:p>
            <a:pPr algn="l">
              <a:spcAft>
                <a:spcPts val="1200"/>
              </a:spcAft>
            </a:pPr>
            <a:r>
              <a:rPr sz="2100" b="0">
                <a:solidFill>
                  <a:srgbClr val="0B0B0B"/>
                </a:solidFill>
                <a:latin typeface="Calibri"/>
              </a:rPr>
              <a:t>Choosing the next test is the engineering decision.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Physics-informed GP: the two tracks meet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f_pigp_vs_g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105" y="1371600"/>
            <a:ext cx="7005483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8815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Plain GP sees only (b, H_web). Submission 1 lane C also sees log(P_phys) and P_LTB/P_bend from the calibrated three-branch capacity.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453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Features sharpen the fit where their physics is useful; the separation branch carries one calibrated tau_i for an interface strength that scatters between sessions.  (animated in slideshow)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Two decisions are yours; the rest are stress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You will meet six modeling "knobs" in Submission 1. Do not treat them as six equal choices.</a:t>
            </a:r>
          </a:p>
          <a:p>
            <a:pPr algn="l" lvl="1"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You own two decisions: the lane — how physics and data combine into one model — and the risk posture — how hard to chase predicted performance versus uncertainty.</a:t>
            </a:r>
          </a:p>
          <a:p>
            <a:pPr algn="l" lvl="1"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The rest — kernel, noise, target scale — are stress tests. After you pick coordinates, swap the kernel and refit at 1% / 3% / 10% noise, and see whether your pick survives.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The strong conclusion is not "we chose RBF and 3%." It is: "our exact optimum moves under reasonable assumptions, but every defensible model points at this neighborhood" — or, just as strong: "the recommendation is unstable, so we bought information instead of chasing the current maximum."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The decision map: put both models on the same axes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ecision_map_4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13" y="1371600"/>
            <a:ext cx="5702467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55955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Calibrated physics (with mode boundaries), GP posterior median, their disagreement, and epistemic sigma — tested beams on every panel. Submission 1 builds this with your knobs.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The activity from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vl="1"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Pre-lab 2: fit the GP, write MUI (and EI), work the noise assumption, find the GP-recommended beam.</a:t>
            </a:r>
          </a:p>
          <a:p>
            <a:pPr algn="l" lvl="1"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Two queries: the class equation design and the class GP design go to the oracle — the same two beams for everyone. Only two.</a:t>
            </a:r>
          </a:p>
          <a:p>
            <a:pPr algn="l" lvl="1"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Submission 1: combine physics, GP, and the two new points; pick the beam you will print; defend it in the memo.</a:t>
            </a:r>
          </a:p>
          <a:p>
            <a:pPr algn="l" lvl="1"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Print, test, reflect, redesign: Submission 2 folds your own test result back into the model and asks what it changes.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Before next time: Pre-lab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70432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In ME323_Module1_Prelab2_ML: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compare vanilla GP setups and read posterior median, epistemic uncertainty, and total predictive uncertainty,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write both MUI and EI,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refit under 1% / 3% / 10% noise and note what moves,</a:t>
            </a:r>
          </a:p>
          <a:p>
            <a:pPr algn="l" lvl="1"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record the locked class design: b = 1.00 mm, H_web = 13.39 mm, posterior median 37.1 N/g.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That beam is the class's second oracle query. Bring your rationale, not just the 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